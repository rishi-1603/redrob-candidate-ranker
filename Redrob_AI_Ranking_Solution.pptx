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72A"/>
                </a:solidFill>
                <a:latin typeface="Arial"/>
              </a:defRPr>
            </a:pPr>
            <a:r>
              <a:rPr sz="1200" b="0" i="0" u="none" strike="noStrike">
                <a:solidFill>
                  <a:srgbClr val="0F172A"/>
                </a:solidFill>
                <a:latin typeface="Arial"/>
              </a:rPr>
              <a:t>Score Distribution in Top 100</a:t>
            </a:r>
          </a:p>
        </c:rich>
      </c:tx>
      <c:layout/>
      <c:overlay val="0"/>
    </c:title>
    <c:autoTitleDeleted val="0"/>
    <c:plotArea>
      <c:layout/>
      <c:barChart>
        <c:barDir val="col"/>
        <c:grouping val="clustered"/>
        <c:varyColors val="0"/>
        <c:ser>
          <c:idx val="0"/>
          <c:order val="0"/>
          <c:tx>
            <c:strRef>
              <c:f>Sheet1!$B$1</c:f>
              <c:strCache>
                <c:ptCount val="1"/>
                <c:pt idx="0">
                  <c:v>Candidates</c:v>
                </c:pt>
              </c:strCache>
            </c:strRef>
          </c:tx>
          <c:spPr>
            <a:solidFill>
              <a:srgbClr val="0D9488"/>
            </a:solidFill>
            <a:effectLst/>
          </c:spPr>
          <c:invertIfNegative val="0"/>
          <c:dLbls>
            <c:numFmt formatCode="#,##0" sourceLinked="0"/>
            <c:txPr>
              <a:bodyPr/>
              <a:lstStyle/>
              <a:p>
                <a:pPr>
                  <a:defRPr b="0" i="0" strike="noStrike" sz="1200" u="none">
                    <a:solidFill>
                      <a:srgbClr val="0F172A"/>
                    </a:solidFill>
                    <a:latin typeface="Arial"/>
                  </a:defRPr>
                </a:pPr>
              </a:p>
            </c:txPr>
            <c:showLegendKey val="0"/>
            <c:showVal val="1"/>
            <c:showCatName val="0"/>
            <c:showSerName val="0"/>
            <c:showPercent val="0"/>
            <c:showBubbleSize val="0"/>
            <c:showLeaderLines val="0"/>
          </c:dLbls>
          <c:cat>
            <c:multiLvlStrRef>
              <c:f>Sheet1!$A$2:$A$8</c:f>
              <c:multiLvlStrCache>
                <c:ptCount val="7"/>
                <c:lvl>
                  <c:pt idx="0">
                    <c:v>0.95–1.0</c:v>
                  </c:pt>
                  <c:pt idx="1">
                    <c:v>0.90–0.95</c:v>
                  </c:pt>
                  <c:pt idx="2">
                    <c:v>0.85–0.90</c:v>
                  </c:pt>
                  <c:pt idx="3">
                    <c:v>0.80–0.85</c:v>
                  </c:pt>
                  <c:pt idx="4">
                    <c:v>0.75–0.80</c:v>
                  </c:pt>
                  <c:pt idx="5">
                    <c:v>0.70–0.75</c:v>
                  </c:pt>
                  <c:pt idx="6">
                    <c:v>&lt; 0.70</c:v>
                  </c:pt>
                </c:lvl>
              </c:multiLvlStrCache>
            </c:multiLvlStrRef>
          </c:cat>
          <c:val>
            <c:numRef>
              <c:f>Sheet1!$B$2:$B$8</c:f>
              <c:numCache>
                <c:formatCode>General</c:formatCode>
                <c:ptCount val="7"/>
                <c:pt idx="0">
                  <c:v>9</c:v>
                </c:pt>
                <c:pt idx="1">
                  <c:v>7</c:v>
                </c:pt>
                <c:pt idx="2">
                  <c:v>12</c:v>
                </c:pt>
                <c:pt idx="3">
                  <c:v>14</c:v>
                </c:pt>
                <c:pt idx="4">
                  <c:v>18</c:v>
                </c:pt>
                <c:pt idx="5">
                  <c:v>16</c:v>
                </c:pt>
                <c:pt idx="6">
                  <c:v>24</c:v>
                </c:pt>
              </c:numCache>
            </c:numRef>
          </c:val>
        </c:ser>
        <c:dLbls>
          <c:numFmt formatCode="#,##0" sourceLinked="0"/>
          <c:txPr>
            <a:bodyPr/>
            <a:lstStyle/>
            <a:p>
              <a:pPr>
                <a:defRPr b="0" i="0" strike="noStrike" sz="12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walks through our AI candidate ranking system built for the Redrob hackathon challenge — ranking 100K candidates for a Senior AI Engineer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JD explicitly warned us: the right answer is NOT to find candidates whose skill section has the most AI keywords. That is a trap built into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architecture: every candidate passes through honeypot detection first, then a five-signal scorer, then a behavioral multiplier. The multiplier can range from 0.30 to 1.30 — a great-on-paper candidate who is inactive gets heavily down-weighted.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career signal is the most important. The JD told us explicitly that a Marketing Manager with every AI skill listed is not a fit. We read the actual job descriptions for evidence of production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insight here is duration trust. A candidate can list 'Pinecone — Expert' in their skills, but if they've used it for 0 months, we trust it only 30%. Platform assessment scores override the proficiency self-declaration.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behavioral multiplier is what separates this from a pure profile-scoring system. A candidate's availability is a first-class signal. We multiply — not add — so a ghost candidate gets severely down-weighted regardless of their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detected 42 honeypot candidates in the pool. These are assigned a score of 0.001, ensuring they never appear anywhere near the top 100. The key insight is that keyword-based systems get fooled by these; a system that reads career logic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9 candidates all score 0.999 — these are the clear 'obvious yes' pool. The score drops off quickly for candidates who are either not truly AI engineers, or who have poor behavioral signals. The distribution shows good differentiation.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deliberate choice. The submission spec explicitly says no API calls and no GPU during ranking. An LLM-per-candidate approach is architecturally prohibited. The rule-based approach is also significantly more interpretable for the Stage 4 manual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solution was designed to be fast, interpretable, and correct. The JD told us exactly what the traps were and we encoded those rules explicitly. Good luck to all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548640" y="640080"/>
            <a:ext cx="8229600" cy="82296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Intelligent Candidate</a:t>
            </a:r>
            <a:endParaRPr lang="en-US" sz="4600" dirty="0"/>
          </a:p>
        </p:txBody>
      </p:sp>
      <p:sp>
        <p:nvSpPr>
          <p:cNvPr id="4" name="Text 2"/>
          <p:cNvSpPr/>
          <p:nvPr/>
        </p:nvSpPr>
        <p:spPr>
          <a:xfrm>
            <a:off x="548640" y="1325880"/>
            <a:ext cx="8229600" cy="822960"/>
          </a:xfrm>
          <a:prstGeom prst="rect">
            <a:avLst/>
          </a:prstGeom>
          <a:noFill/>
          <a:ln/>
        </p:spPr>
        <p:txBody>
          <a:bodyPr wrap="square" rtlCol="0" anchor="ctr"/>
          <a:lstStyle/>
          <a:p>
            <a:pPr indent="0" marL="0">
              <a:buNone/>
            </a:pPr>
            <a:r>
              <a:rPr lang="en-US" sz="4600" b="1" dirty="0">
                <a:solidFill>
                  <a:srgbClr val="0D9488"/>
                </a:solidFill>
                <a:latin typeface="Calibri" pitchFamily="34" charset="0"/>
                <a:ea typeface="Calibri" pitchFamily="34" charset="-122"/>
                <a:cs typeface="Calibri" pitchFamily="34" charset="-120"/>
              </a:rPr>
              <a:t>Discovery &amp; Ranking</a:t>
            </a:r>
            <a:endParaRPr lang="en-US" sz="4600" dirty="0"/>
          </a:p>
        </p:txBody>
      </p:sp>
      <p:sp>
        <p:nvSpPr>
          <p:cNvPr id="5" name="Text 3"/>
          <p:cNvSpPr/>
          <p:nvPr/>
        </p:nvSpPr>
        <p:spPr>
          <a:xfrm>
            <a:off x="548640" y="2286000"/>
            <a:ext cx="7772400" cy="3657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Senior AI Engineer — Founding Team @ Redrob AI</a:t>
            </a:r>
            <a:endParaRPr lang="en-US" sz="1600" dirty="0"/>
          </a:p>
        </p:txBody>
      </p:sp>
      <p:sp>
        <p:nvSpPr>
          <p:cNvPr id="6" name="Shape 4"/>
          <p:cNvSpPr/>
          <p:nvPr/>
        </p:nvSpPr>
        <p:spPr>
          <a:xfrm>
            <a:off x="548640" y="2788920"/>
            <a:ext cx="1097280" cy="54864"/>
          </a:xfrm>
          <a:prstGeom prst="rect">
            <a:avLst/>
          </a:prstGeom>
          <a:solidFill>
            <a:srgbClr val="0D9488"/>
          </a:solidFill>
          <a:ln w="12700">
            <a:solidFill>
              <a:srgbClr val="0D9488"/>
            </a:solidFill>
            <a:prstDash val="solid"/>
          </a:ln>
        </p:spPr>
      </p:sp>
      <p:sp>
        <p:nvSpPr>
          <p:cNvPr id="7" name="Text 5"/>
          <p:cNvSpPr/>
          <p:nvPr/>
        </p:nvSpPr>
        <p:spPr>
          <a:xfrm>
            <a:off x="548640" y="3017520"/>
            <a:ext cx="8229600" cy="41148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Multi-signal hybrid scoring · Behavioral multiplier · Honeypot-aware · CPU-only in 15s</a:t>
            </a:r>
            <a:endParaRPr lang="en-US" sz="1300" dirty="0"/>
          </a:p>
        </p:txBody>
      </p:sp>
      <p:sp>
        <p:nvSpPr>
          <p:cNvPr id="8" name="Shape 6"/>
          <p:cNvSpPr/>
          <p:nvPr/>
        </p:nvSpPr>
        <p:spPr>
          <a:xfrm>
            <a:off x="457200" y="3977640"/>
            <a:ext cx="1920240" cy="868680"/>
          </a:xfrm>
          <a:prstGeom prst="roundRect">
            <a:avLst>
              <a:gd name="adj" fmla="val 8421"/>
            </a:avLst>
          </a:prstGeom>
          <a:solidFill>
            <a:srgbClr val="1E293B"/>
          </a:solidFill>
          <a:ln w="12700">
            <a:solidFill>
              <a:srgbClr val="1E293B"/>
            </a:solidFill>
            <a:prstDash val="solid"/>
          </a:ln>
        </p:spPr>
      </p:sp>
      <p:sp>
        <p:nvSpPr>
          <p:cNvPr id="9" name="Text 7"/>
          <p:cNvSpPr/>
          <p:nvPr/>
        </p:nvSpPr>
        <p:spPr>
          <a:xfrm>
            <a:off x="457200" y="4023360"/>
            <a:ext cx="1920240" cy="411480"/>
          </a:xfrm>
          <a:prstGeom prst="rect">
            <a:avLst/>
          </a:prstGeom>
          <a:noFill/>
          <a:ln/>
        </p:spPr>
        <p:txBody>
          <a:bodyPr wrap="square"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100K</a:t>
            </a:r>
            <a:endParaRPr lang="en-US" sz="2600" dirty="0"/>
          </a:p>
        </p:txBody>
      </p:sp>
      <p:sp>
        <p:nvSpPr>
          <p:cNvPr id="10" name="Text 8"/>
          <p:cNvSpPr/>
          <p:nvPr/>
        </p:nvSpPr>
        <p:spPr>
          <a:xfrm>
            <a:off x="457200" y="4434840"/>
            <a:ext cx="192024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candidates scored</a:t>
            </a:r>
            <a:endParaRPr lang="en-US" sz="1100" dirty="0"/>
          </a:p>
        </p:txBody>
      </p:sp>
      <p:sp>
        <p:nvSpPr>
          <p:cNvPr id="11" name="Shape 9"/>
          <p:cNvSpPr/>
          <p:nvPr/>
        </p:nvSpPr>
        <p:spPr>
          <a:xfrm>
            <a:off x="2487168" y="3977640"/>
            <a:ext cx="1920240" cy="868680"/>
          </a:xfrm>
          <a:prstGeom prst="roundRect">
            <a:avLst>
              <a:gd name="adj" fmla="val 8421"/>
            </a:avLst>
          </a:prstGeom>
          <a:solidFill>
            <a:srgbClr val="1E293B"/>
          </a:solidFill>
          <a:ln w="12700">
            <a:solidFill>
              <a:srgbClr val="1E293B"/>
            </a:solidFill>
            <a:prstDash val="solid"/>
          </a:ln>
        </p:spPr>
      </p:sp>
      <p:sp>
        <p:nvSpPr>
          <p:cNvPr id="12" name="Text 10"/>
          <p:cNvSpPr/>
          <p:nvPr/>
        </p:nvSpPr>
        <p:spPr>
          <a:xfrm>
            <a:off x="2487168" y="4023360"/>
            <a:ext cx="1920240" cy="411480"/>
          </a:xfrm>
          <a:prstGeom prst="rect">
            <a:avLst/>
          </a:prstGeom>
          <a:noFill/>
          <a:ln/>
        </p:spPr>
        <p:txBody>
          <a:bodyPr wrap="square"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15s</a:t>
            </a:r>
            <a:endParaRPr lang="en-US" sz="2600" dirty="0"/>
          </a:p>
        </p:txBody>
      </p:sp>
      <p:sp>
        <p:nvSpPr>
          <p:cNvPr id="13" name="Text 11"/>
          <p:cNvSpPr/>
          <p:nvPr/>
        </p:nvSpPr>
        <p:spPr>
          <a:xfrm>
            <a:off x="2487168" y="4434840"/>
            <a:ext cx="192024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CPU runtime</a:t>
            </a:r>
            <a:endParaRPr lang="en-US" sz="1100" dirty="0"/>
          </a:p>
        </p:txBody>
      </p:sp>
      <p:sp>
        <p:nvSpPr>
          <p:cNvPr id="14" name="Shape 12"/>
          <p:cNvSpPr/>
          <p:nvPr/>
        </p:nvSpPr>
        <p:spPr>
          <a:xfrm>
            <a:off x="4517136" y="3977640"/>
            <a:ext cx="1920240" cy="868680"/>
          </a:xfrm>
          <a:prstGeom prst="roundRect">
            <a:avLst>
              <a:gd name="adj" fmla="val 8421"/>
            </a:avLst>
          </a:prstGeom>
          <a:solidFill>
            <a:srgbClr val="1E293B"/>
          </a:solidFill>
          <a:ln w="12700">
            <a:solidFill>
              <a:srgbClr val="1E293B"/>
            </a:solidFill>
            <a:prstDash val="solid"/>
          </a:ln>
        </p:spPr>
      </p:sp>
      <p:sp>
        <p:nvSpPr>
          <p:cNvPr id="15" name="Text 13"/>
          <p:cNvSpPr/>
          <p:nvPr/>
        </p:nvSpPr>
        <p:spPr>
          <a:xfrm>
            <a:off x="4517136" y="4023360"/>
            <a:ext cx="1920240" cy="411480"/>
          </a:xfrm>
          <a:prstGeom prst="rect">
            <a:avLst/>
          </a:prstGeom>
          <a:noFill/>
          <a:ln/>
        </p:spPr>
        <p:txBody>
          <a:bodyPr wrap="square"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5</a:t>
            </a:r>
            <a:endParaRPr lang="en-US" sz="2600" dirty="0"/>
          </a:p>
        </p:txBody>
      </p:sp>
      <p:sp>
        <p:nvSpPr>
          <p:cNvPr id="16" name="Text 14"/>
          <p:cNvSpPr/>
          <p:nvPr/>
        </p:nvSpPr>
        <p:spPr>
          <a:xfrm>
            <a:off x="4517136" y="4434840"/>
            <a:ext cx="192024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scoring signals</a:t>
            </a:r>
            <a:endParaRPr lang="en-US" sz="1100" dirty="0"/>
          </a:p>
        </p:txBody>
      </p:sp>
      <p:sp>
        <p:nvSpPr>
          <p:cNvPr id="17" name="Shape 15"/>
          <p:cNvSpPr/>
          <p:nvPr/>
        </p:nvSpPr>
        <p:spPr>
          <a:xfrm>
            <a:off x="6547104" y="3977640"/>
            <a:ext cx="1920240" cy="868680"/>
          </a:xfrm>
          <a:prstGeom prst="roundRect">
            <a:avLst>
              <a:gd name="adj" fmla="val 8421"/>
            </a:avLst>
          </a:prstGeom>
          <a:solidFill>
            <a:srgbClr val="1E293B"/>
          </a:solidFill>
          <a:ln w="12700">
            <a:solidFill>
              <a:srgbClr val="1E293B"/>
            </a:solidFill>
            <a:prstDash val="solid"/>
          </a:ln>
        </p:spPr>
      </p:sp>
      <p:sp>
        <p:nvSpPr>
          <p:cNvPr id="18" name="Text 16"/>
          <p:cNvSpPr/>
          <p:nvPr/>
        </p:nvSpPr>
        <p:spPr>
          <a:xfrm>
            <a:off x="6547104" y="4023360"/>
            <a:ext cx="1920240" cy="411480"/>
          </a:xfrm>
          <a:prstGeom prst="rect">
            <a:avLst/>
          </a:prstGeom>
          <a:noFill/>
          <a:ln/>
        </p:spPr>
        <p:txBody>
          <a:bodyPr wrap="square"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0</a:t>
            </a:r>
            <a:endParaRPr lang="en-US" sz="2600" dirty="0"/>
          </a:p>
        </p:txBody>
      </p:sp>
      <p:sp>
        <p:nvSpPr>
          <p:cNvPr id="19" name="Text 17"/>
          <p:cNvSpPr/>
          <p:nvPr/>
        </p:nvSpPr>
        <p:spPr>
          <a:xfrm>
            <a:off x="6547104" y="4434840"/>
            <a:ext cx="192024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API calls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The Problem With Keyword Matching</a:t>
            </a:r>
            <a:endParaRPr lang="en-US" sz="2800" dirty="0"/>
          </a:p>
        </p:txBody>
      </p:sp>
      <p:sp>
        <p:nvSpPr>
          <p:cNvPr id="3" name="Shape 1"/>
          <p:cNvSpPr/>
          <p:nvPr/>
        </p:nvSpPr>
        <p:spPr>
          <a:xfrm>
            <a:off x="365760" y="960120"/>
            <a:ext cx="3931920" cy="3474720"/>
          </a:xfrm>
          <a:prstGeom prst="roundRect">
            <a:avLst>
              <a:gd name="adj" fmla="val 2632"/>
            </a:avLst>
          </a:prstGeom>
          <a:solidFill>
            <a:srgbClr val="FEE2E2"/>
          </a:solidFill>
          <a:ln w="12700">
            <a:solidFill>
              <a:srgbClr val="FECACA"/>
            </a:solidFill>
            <a:prstDash val="solid"/>
          </a:ln>
        </p:spPr>
      </p:sp>
      <p:sp>
        <p:nvSpPr>
          <p:cNvPr id="4" name="Text 2"/>
          <p:cNvSpPr/>
          <p:nvPr/>
        </p:nvSpPr>
        <p:spPr>
          <a:xfrm>
            <a:off x="502920" y="1097280"/>
            <a:ext cx="3657600" cy="411480"/>
          </a:xfrm>
          <a:prstGeom prst="rect">
            <a:avLst/>
          </a:prstGeom>
          <a:noFill/>
          <a:ln/>
        </p:spPr>
        <p:txBody>
          <a:bodyPr wrap="square"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  Keyword Matching Fails</a:t>
            </a:r>
            <a:endParaRPr lang="en-US" sz="1400" dirty="0"/>
          </a:p>
        </p:txBody>
      </p:sp>
      <p:sp>
        <p:nvSpPr>
          <p:cNvPr id="5" name="Text 3"/>
          <p:cNvSpPr/>
          <p:nvPr/>
        </p:nvSpPr>
        <p:spPr>
          <a:xfrm>
            <a:off x="502920" y="1572768"/>
            <a:ext cx="3657600" cy="265176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Marketing Manager with 9 AI skills listed ranks top</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Consulting-only engineers with 'production ML' in bio pass filters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Inactive candidates (6 months, 5% response rate) surface as top results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Keyword stuffers inflate proficiency without real usage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Honeypot profiles with impossible timelines fool naive systems</a:t>
            </a:r>
            <a:endParaRPr lang="en-US" sz="1200" dirty="0"/>
          </a:p>
        </p:txBody>
      </p:sp>
      <p:sp>
        <p:nvSpPr>
          <p:cNvPr id="6" name="Shape 4"/>
          <p:cNvSpPr/>
          <p:nvPr/>
        </p:nvSpPr>
        <p:spPr>
          <a:xfrm>
            <a:off x="4846320" y="960120"/>
            <a:ext cx="3931920" cy="3474720"/>
          </a:xfrm>
          <a:prstGeom prst="roundRect">
            <a:avLst>
              <a:gd name="adj" fmla="val 2632"/>
            </a:avLst>
          </a:prstGeom>
          <a:solidFill>
            <a:srgbClr val="DCFCE7"/>
          </a:solidFill>
          <a:ln w="12700">
            <a:solidFill>
              <a:srgbClr val="BBF7D0"/>
            </a:solidFill>
            <a:prstDash val="solid"/>
          </a:ln>
        </p:spPr>
      </p:sp>
      <p:sp>
        <p:nvSpPr>
          <p:cNvPr id="7" name="Text 5"/>
          <p:cNvSpPr/>
          <p:nvPr/>
        </p:nvSpPr>
        <p:spPr>
          <a:xfrm>
            <a:off x="4983480" y="1097280"/>
            <a:ext cx="3657600" cy="411480"/>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  Our Approach</a:t>
            </a:r>
            <a:endParaRPr lang="en-US" sz="1400" dirty="0"/>
          </a:p>
        </p:txBody>
      </p:sp>
      <p:sp>
        <p:nvSpPr>
          <p:cNvPr id="8" name="Text 6"/>
          <p:cNvSpPr/>
          <p:nvPr/>
        </p:nvSpPr>
        <p:spPr>
          <a:xfrm>
            <a:off x="4983480" y="1572768"/>
            <a:ext cx="3657600" cy="265176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Career history scan: what did they actually build?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Skills weighted by proficiency × usage duration × platform assessment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Behavioral multiplier: recency, response rate, GitHub activity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Honeypot detector: flags impossible profiles before scoring</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JD-explicit disqualifiers: consulting-only, pure research, &gt;90d notice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3" name="Text 1"/>
          <p:cNvSpPr/>
          <p:nvPr/>
        </p:nvSpPr>
        <p:spPr>
          <a:xfrm>
            <a:off x="457200" y="713232"/>
            <a:ext cx="8229600" cy="32004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Five signals → weighted base score → behavioral multiplier → ranked output</a:t>
            </a:r>
            <a:endParaRPr lang="en-US" sz="1300" dirty="0"/>
          </a:p>
        </p:txBody>
      </p:sp>
      <p:sp>
        <p:nvSpPr>
          <p:cNvPr id="4" name="Shape 2"/>
          <p:cNvSpPr/>
          <p:nvPr/>
        </p:nvSpPr>
        <p:spPr>
          <a:xfrm>
            <a:off x="274320" y="1234440"/>
            <a:ext cx="1463040" cy="822960"/>
          </a:xfrm>
          <a:prstGeom prst="roundRect">
            <a:avLst>
              <a:gd name="adj" fmla="val 11111"/>
            </a:avLst>
          </a:prstGeom>
          <a:solidFill>
            <a:srgbClr val="1E293B"/>
          </a:solidFill>
          <a:ln w="12700">
            <a:solidFill>
              <a:srgbClr val="1E293B"/>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274320" y="1234440"/>
            <a:ext cx="1463040" cy="822960"/>
          </a:xfrm>
          <a:prstGeom prst="rect">
            <a:avLst/>
          </a:prstGeom>
          <a:noFill/>
          <a:ln/>
        </p:spPr>
        <p:txBody>
          <a:bodyPr wrap="square" rtlCol="0" anchor="ctr"/>
          <a:lstStyle/>
          <a:p>
            <a:pPr algn="ctr" indent="0" marL="0">
              <a:buNone/>
            </a:pPr>
            <a:r>
              <a:rPr lang="en-US" sz="1100" b="1" dirty="0">
                <a:solidFill>
                  <a:srgbClr val="94A3B8"/>
                </a:solidFill>
                <a:latin typeface="Calibri" pitchFamily="34" charset="0"/>
                <a:ea typeface="Calibri" pitchFamily="34" charset="-122"/>
                <a:cs typeface="Calibri" pitchFamily="34" charset="-120"/>
              </a:rPr>
              <a:t>candidates.jsonl</a:t>
            </a:r>
            <a:endParaRPr lang="en-US" sz="1100" dirty="0"/>
          </a:p>
          <a:p>
            <a:pPr algn="ctr" indent="0" marL="0">
              <a:buNone/>
            </a:pPr>
            <a:r>
              <a:rPr lang="en-US" sz="1100" b="1" dirty="0">
                <a:solidFill>
                  <a:srgbClr val="94A3B8"/>
                </a:solidFill>
                <a:latin typeface="Calibri" pitchFamily="34" charset="0"/>
                <a:ea typeface="Calibri" pitchFamily="34" charset="-122"/>
                <a:cs typeface="Calibri" pitchFamily="34" charset="-120"/>
              </a:rPr>
              <a:t>100K profiles</a:t>
            </a:r>
            <a:endParaRPr lang="en-US" sz="1100" dirty="0"/>
          </a:p>
        </p:txBody>
      </p:sp>
      <p:sp>
        <p:nvSpPr>
          <p:cNvPr id="6" name="Text 4"/>
          <p:cNvSpPr/>
          <p:nvPr/>
        </p:nvSpPr>
        <p:spPr>
          <a:xfrm>
            <a:off x="1737360" y="1417320"/>
            <a:ext cx="274320" cy="411480"/>
          </a:xfrm>
          <a:prstGeom prst="rect">
            <a:avLst/>
          </a:prstGeom>
          <a:noFill/>
          <a:ln/>
        </p:spPr>
        <p:txBody>
          <a:bodyPr wrap="square" rtlCol="0" anchor="ctr"/>
          <a:lstStyle/>
          <a:p>
            <a:pPr algn="ctr" indent="0" marL="0">
              <a:buNone/>
            </a:pPr>
            <a:r>
              <a:rPr lang="en-US" sz="1800" dirty="0">
                <a:solidFill>
                  <a:srgbClr val="94A3B8"/>
                </a:solidFill>
              </a:rPr>
              <a:t>→</a:t>
            </a:r>
            <a:endParaRPr lang="en-US" sz="1800" dirty="0"/>
          </a:p>
        </p:txBody>
      </p:sp>
      <p:sp>
        <p:nvSpPr>
          <p:cNvPr id="7" name="Shape 5"/>
          <p:cNvSpPr/>
          <p:nvPr/>
        </p:nvSpPr>
        <p:spPr>
          <a:xfrm>
            <a:off x="2011680" y="1234440"/>
            <a:ext cx="1371600" cy="822960"/>
          </a:xfrm>
          <a:prstGeom prst="roundRect">
            <a:avLst>
              <a:gd name="adj" fmla="val 11111"/>
            </a:avLst>
          </a:prstGeom>
          <a:solidFill>
            <a:srgbClr val="7C3AED"/>
          </a:solidFill>
          <a:ln w="12700">
            <a:solidFill>
              <a:srgbClr val="7C3AED"/>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2011680" y="1234440"/>
            <a:ext cx="1371600" cy="8229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Honeypot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Detector</a:t>
            </a:r>
            <a:endParaRPr lang="en-US" sz="1100" dirty="0"/>
          </a:p>
        </p:txBody>
      </p:sp>
      <p:sp>
        <p:nvSpPr>
          <p:cNvPr id="9" name="Text 7"/>
          <p:cNvSpPr/>
          <p:nvPr/>
        </p:nvSpPr>
        <p:spPr>
          <a:xfrm>
            <a:off x="3383280" y="1417320"/>
            <a:ext cx="274320" cy="411480"/>
          </a:xfrm>
          <a:prstGeom prst="rect">
            <a:avLst/>
          </a:prstGeom>
          <a:noFill/>
          <a:ln/>
        </p:spPr>
        <p:txBody>
          <a:bodyPr wrap="square" rtlCol="0" anchor="ctr"/>
          <a:lstStyle/>
          <a:p>
            <a:pPr algn="ctr" indent="0" marL="0">
              <a:buNone/>
            </a:pPr>
            <a:r>
              <a:rPr lang="en-US" sz="1800" dirty="0">
                <a:solidFill>
                  <a:srgbClr val="94A3B8"/>
                </a:solidFill>
              </a:rPr>
              <a:t>→</a:t>
            </a:r>
            <a:endParaRPr lang="en-US" sz="1800" dirty="0"/>
          </a:p>
        </p:txBody>
      </p:sp>
      <p:sp>
        <p:nvSpPr>
          <p:cNvPr id="10" name="Shape 8"/>
          <p:cNvSpPr/>
          <p:nvPr/>
        </p:nvSpPr>
        <p:spPr>
          <a:xfrm>
            <a:off x="3657600" y="1234440"/>
            <a:ext cx="1371600" cy="822960"/>
          </a:xfrm>
          <a:prstGeom prst="roundRect">
            <a:avLst>
              <a:gd name="adj" fmla="val 11111"/>
            </a:avLst>
          </a:prstGeom>
          <a:solidFill>
            <a:srgbClr val="0D9488"/>
          </a:solidFill>
          <a:ln w="12700">
            <a:solidFill>
              <a:srgbClr val="0D9488"/>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3657600" y="1234440"/>
            <a:ext cx="1371600" cy="8229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5-Signal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Scorer</a:t>
            </a:r>
            <a:endParaRPr lang="en-US" sz="1100" dirty="0"/>
          </a:p>
        </p:txBody>
      </p:sp>
      <p:sp>
        <p:nvSpPr>
          <p:cNvPr id="12" name="Text 10"/>
          <p:cNvSpPr/>
          <p:nvPr/>
        </p:nvSpPr>
        <p:spPr>
          <a:xfrm>
            <a:off x="5029200" y="1417320"/>
            <a:ext cx="274320" cy="411480"/>
          </a:xfrm>
          <a:prstGeom prst="rect">
            <a:avLst/>
          </a:prstGeom>
          <a:noFill/>
          <a:ln/>
        </p:spPr>
        <p:txBody>
          <a:bodyPr wrap="square" rtlCol="0" anchor="ctr"/>
          <a:lstStyle/>
          <a:p>
            <a:pPr algn="ctr" indent="0" marL="0">
              <a:buNone/>
            </a:pPr>
            <a:r>
              <a:rPr lang="en-US" sz="1800" dirty="0">
                <a:solidFill>
                  <a:srgbClr val="94A3B8"/>
                </a:solidFill>
              </a:rPr>
              <a:t>→</a:t>
            </a:r>
            <a:endParaRPr lang="en-US" sz="1800" dirty="0"/>
          </a:p>
        </p:txBody>
      </p:sp>
      <p:sp>
        <p:nvSpPr>
          <p:cNvPr id="13" name="Shape 11"/>
          <p:cNvSpPr/>
          <p:nvPr/>
        </p:nvSpPr>
        <p:spPr>
          <a:xfrm>
            <a:off x="5303520" y="1234440"/>
            <a:ext cx="1371600" cy="822960"/>
          </a:xfrm>
          <a:prstGeom prst="roundRect">
            <a:avLst>
              <a:gd name="adj" fmla="val 11111"/>
            </a:avLst>
          </a:prstGeom>
          <a:solidFill>
            <a:srgbClr val="0891B2"/>
          </a:solidFill>
          <a:ln w="12700">
            <a:solidFill>
              <a:srgbClr val="0891B2"/>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5303520" y="1234440"/>
            <a:ext cx="1371600" cy="8229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Behavioral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Multiplier</a:t>
            </a:r>
            <a:endParaRPr lang="en-US" sz="1100" dirty="0"/>
          </a:p>
        </p:txBody>
      </p:sp>
      <p:sp>
        <p:nvSpPr>
          <p:cNvPr id="15" name="Text 13"/>
          <p:cNvSpPr/>
          <p:nvPr/>
        </p:nvSpPr>
        <p:spPr>
          <a:xfrm>
            <a:off x="6675120" y="1417320"/>
            <a:ext cx="274320" cy="411480"/>
          </a:xfrm>
          <a:prstGeom prst="rect">
            <a:avLst/>
          </a:prstGeom>
          <a:noFill/>
          <a:ln/>
        </p:spPr>
        <p:txBody>
          <a:bodyPr wrap="square" rtlCol="0" anchor="ctr"/>
          <a:lstStyle/>
          <a:p>
            <a:pPr algn="ctr" indent="0" marL="0">
              <a:buNone/>
            </a:pPr>
            <a:r>
              <a:rPr lang="en-US" sz="1800" dirty="0">
                <a:solidFill>
                  <a:srgbClr val="94A3B8"/>
                </a:solidFill>
              </a:rPr>
              <a:t>→</a:t>
            </a:r>
            <a:endParaRPr lang="en-US" sz="1800" dirty="0"/>
          </a:p>
        </p:txBody>
      </p:sp>
      <p:sp>
        <p:nvSpPr>
          <p:cNvPr id="16" name="Shape 14"/>
          <p:cNvSpPr/>
          <p:nvPr/>
        </p:nvSpPr>
        <p:spPr>
          <a:xfrm>
            <a:off x="6949440" y="1234440"/>
            <a:ext cx="1463040" cy="822960"/>
          </a:xfrm>
          <a:prstGeom prst="roundRect">
            <a:avLst>
              <a:gd name="adj" fmla="val 11111"/>
            </a:avLst>
          </a:prstGeom>
          <a:solidFill>
            <a:srgbClr val="1E293B"/>
          </a:solidFill>
          <a:ln w="12700">
            <a:solidFill>
              <a:srgbClr val="1E293B"/>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6949440" y="1234440"/>
            <a:ext cx="1463040" cy="822960"/>
          </a:xfrm>
          <a:prstGeom prst="rect">
            <a:avLst/>
          </a:prstGeom>
          <a:noFill/>
          <a:ln/>
        </p:spPr>
        <p:txBody>
          <a:bodyPr wrap="square"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Top-100</a:t>
            </a:r>
            <a:endParaRPr lang="en-US" sz="1100" dirty="0"/>
          </a:p>
          <a:p>
            <a:pPr algn="ctr" indent="0" marL="0">
              <a:buNone/>
            </a:pPr>
            <a:r>
              <a:rPr lang="en-US" sz="1100" b="1" dirty="0">
                <a:solidFill>
                  <a:srgbClr val="14B8A6"/>
                </a:solidFill>
                <a:latin typeface="Calibri" pitchFamily="34" charset="0"/>
                <a:ea typeface="Calibri" pitchFamily="34" charset="-122"/>
                <a:cs typeface="Calibri" pitchFamily="34" charset="-120"/>
              </a:rPr>
              <a:t>Ranked CSV</a:t>
            </a:r>
            <a:endParaRPr lang="en-US" sz="1100" dirty="0"/>
          </a:p>
        </p:txBody>
      </p:sp>
      <p:sp>
        <p:nvSpPr>
          <p:cNvPr id="18" name="Shape 16"/>
          <p:cNvSpPr/>
          <p:nvPr/>
        </p:nvSpPr>
        <p:spPr>
          <a:xfrm>
            <a:off x="457200" y="2286000"/>
            <a:ext cx="8229600" cy="640080"/>
          </a:xfrm>
          <a:prstGeom prst="roundRect">
            <a:avLst>
              <a:gd name="adj" fmla="val 14286"/>
            </a:avLst>
          </a:prstGeom>
          <a:solidFill>
            <a:srgbClr val="1E293B"/>
          </a:solidFill>
          <a:ln w="12700">
            <a:solidFill>
              <a:srgbClr val="0D9488"/>
            </a:solidFill>
            <a:prstDash val="solid"/>
          </a:ln>
        </p:spPr>
      </p:sp>
      <p:sp>
        <p:nvSpPr>
          <p:cNvPr id="19" name="Text 17"/>
          <p:cNvSpPr/>
          <p:nvPr/>
        </p:nvSpPr>
        <p:spPr>
          <a:xfrm>
            <a:off x="548640" y="2331720"/>
            <a:ext cx="8046720" cy="548640"/>
          </a:xfrm>
          <a:prstGeom prst="rect">
            <a:avLst/>
          </a:prstGeom>
          <a:noFill/>
          <a:ln/>
        </p:spPr>
        <p:txBody>
          <a:bodyPr wrap="square" rtlCol="0" anchor="ctr"/>
          <a:lstStyle/>
          <a:p>
            <a:pPr algn="ctr" indent="0" marL="0">
              <a:buNone/>
            </a:pPr>
            <a:r>
              <a:rPr lang="en-US" sz="1300" b="1" dirty="0">
                <a:solidFill>
                  <a:srgbClr val="0D9488"/>
                </a:solidFill>
                <a:latin typeface="Courier New" pitchFamily="34" charset="0"/>
                <a:ea typeface="Courier New" pitchFamily="34" charset="-122"/>
                <a:cs typeface="Courier New" pitchFamily="34" charset="-120"/>
              </a:rPr>
              <a:t>final_score  =  ( career×0.35  +  skills×0.30  +  experience×0.15  +  logistics×0.20 )  ×  behavioral_multiplier</a:t>
            </a:r>
            <a:endParaRPr lang="en-US" sz="1300" dirty="0"/>
          </a:p>
        </p:txBody>
      </p:sp>
      <p:sp>
        <p:nvSpPr>
          <p:cNvPr id="20" name="Shape 18"/>
          <p:cNvSpPr/>
          <p:nvPr/>
        </p:nvSpPr>
        <p:spPr>
          <a:xfrm>
            <a:off x="246888" y="3154680"/>
            <a:ext cx="1664208" cy="1691640"/>
          </a:xfrm>
          <a:prstGeom prst="roundRect">
            <a:avLst>
              <a:gd name="adj" fmla="val 5495"/>
            </a:avLst>
          </a:prstGeom>
          <a:solidFill>
            <a:srgbClr val="1E293B"/>
          </a:solidFill>
          <a:ln w="12700">
            <a:solidFill>
              <a:srgbClr val="7C3AED"/>
            </a:solidFill>
            <a:prstDash val="solid"/>
          </a:ln>
        </p:spPr>
      </p:sp>
      <p:sp>
        <p:nvSpPr>
          <p:cNvPr id="21" name="Text 19"/>
          <p:cNvSpPr/>
          <p:nvPr/>
        </p:nvSpPr>
        <p:spPr>
          <a:xfrm>
            <a:off x="246888" y="3200400"/>
            <a:ext cx="1664208" cy="457200"/>
          </a:xfrm>
          <a:prstGeom prst="rect">
            <a:avLst/>
          </a:prstGeom>
          <a:noFill/>
          <a:ln/>
        </p:spPr>
        <p:txBody>
          <a:bodyPr wrap="square" rtlCol="0" anchor="ctr"/>
          <a:lstStyle/>
          <a:p>
            <a:pPr algn="ctr" indent="0" marL="0">
              <a:buNone/>
            </a:pPr>
            <a:r>
              <a:rPr lang="en-US" sz="2200" b="1" dirty="0">
                <a:solidFill>
                  <a:srgbClr val="7C3AED"/>
                </a:solidFill>
                <a:latin typeface="Calibri" pitchFamily="34" charset="0"/>
                <a:ea typeface="Calibri" pitchFamily="34" charset="-122"/>
                <a:cs typeface="Calibri" pitchFamily="34" charset="-120"/>
              </a:rPr>
              <a:t>35%</a:t>
            </a:r>
            <a:endParaRPr lang="en-US" sz="2200" dirty="0"/>
          </a:p>
        </p:txBody>
      </p:sp>
      <p:sp>
        <p:nvSpPr>
          <p:cNvPr id="22" name="Text 20"/>
          <p:cNvSpPr/>
          <p:nvPr/>
        </p:nvSpPr>
        <p:spPr>
          <a:xfrm>
            <a:off x="246888" y="3611880"/>
            <a:ext cx="1664208"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Career</a:t>
            </a:r>
            <a:endParaRPr lang="en-US" sz="1300" dirty="0"/>
          </a:p>
        </p:txBody>
      </p:sp>
      <p:sp>
        <p:nvSpPr>
          <p:cNvPr id="23" name="Text 21"/>
          <p:cNvSpPr/>
          <p:nvPr/>
        </p:nvSpPr>
        <p:spPr>
          <a:xfrm>
            <a:off x="320040" y="3913632"/>
            <a:ext cx="1517904" cy="8229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Title match + production AI evidence in work history</a:t>
            </a:r>
            <a:endParaRPr lang="en-US" sz="950" dirty="0"/>
          </a:p>
        </p:txBody>
      </p:sp>
      <p:sp>
        <p:nvSpPr>
          <p:cNvPr id="24" name="Shape 22"/>
          <p:cNvSpPr/>
          <p:nvPr/>
        </p:nvSpPr>
        <p:spPr>
          <a:xfrm>
            <a:off x="1975104" y="3154680"/>
            <a:ext cx="1664208" cy="1691640"/>
          </a:xfrm>
          <a:prstGeom prst="roundRect">
            <a:avLst>
              <a:gd name="adj" fmla="val 5495"/>
            </a:avLst>
          </a:prstGeom>
          <a:solidFill>
            <a:srgbClr val="1E293B"/>
          </a:solidFill>
          <a:ln w="12700">
            <a:solidFill>
              <a:srgbClr val="0D9488"/>
            </a:solidFill>
            <a:prstDash val="solid"/>
          </a:ln>
        </p:spPr>
      </p:sp>
      <p:sp>
        <p:nvSpPr>
          <p:cNvPr id="25" name="Text 23"/>
          <p:cNvSpPr/>
          <p:nvPr/>
        </p:nvSpPr>
        <p:spPr>
          <a:xfrm>
            <a:off x="1975104" y="3200400"/>
            <a:ext cx="1664208" cy="457200"/>
          </a:xfrm>
          <a:prstGeom prst="rect">
            <a:avLst/>
          </a:prstGeom>
          <a:noFill/>
          <a:ln/>
        </p:spPr>
        <p:txBody>
          <a:bodyPr wrap="square"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30%</a:t>
            </a:r>
            <a:endParaRPr lang="en-US" sz="2200" dirty="0"/>
          </a:p>
        </p:txBody>
      </p:sp>
      <p:sp>
        <p:nvSpPr>
          <p:cNvPr id="26" name="Text 24"/>
          <p:cNvSpPr/>
          <p:nvPr/>
        </p:nvSpPr>
        <p:spPr>
          <a:xfrm>
            <a:off x="1975104" y="3611880"/>
            <a:ext cx="1664208"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Skills</a:t>
            </a:r>
            <a:endParaRPr lang="en-US" sz="1300" dirty="0"/>
          </a:p>
        </p:txBody>
      </p:sp>
      <p:sp>
        <p:nvSpPr>
          <p:cNvPr id="27" name="Text 25"/>
          <p:cNvSpPr/>
          <p:nvPr/>
        </p:nvSpPr>
        <p:spPr>
          <a:xfrm>
            <a:off x="2048256" y="3913632"/>
            <a:ext cx="1517904" cy="8229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Core AI/retrieval skills, proficiency × duration trust</a:t>
            </a:r>
            <a:endParaRPr lang="en-US" sz="950" dirty="0"/>
          </a:p>
        </p:txBody>
      </p:sp>
      <p:sp>
        <p:nvSpPr>
          <p:cNvPr id="28" name="Shape 26"/>
          <p:cNvSpPr/>
          <p:nvPr/>
        </p:nvSpPr>
        <p:spPr>
          <a:xfrm>
            <a:off x="3703320" y="3154680"/>
            <a:ext cx="1664208" cy="1691640"/>
          </a:xfrm>
          <a:prstGeom prst="roundRect">
            <a:avLst>
              <a:gd name="adj" fmla="val 5495"/>
            </a:avLst>
          </a:prstGeom>
          <a:solidFill>
            <a:srgbClr val="1E293B"/>
          </a:solidFill>
          <a:ln w="12700">
            <a:solidFill>
              <a:srgbClr val="0891B2"/>
            </a:solidFill>
            <a:prstDash val="solid"/>
          </a:ln>
        </p:spPr>
      </p:sp>
      <p:sp>
        <p:nvSpPr>
          <p:cNvPr id="29" name="Text 27"/>
          <p:cNvSpPr/>
          <p:nvPr/>
        </p:nvSpPr>
        <p:spPr>
          <a:xfrm>
            <a:off x="3703320" y="3200400"/>
            <a:ext cx="1664208" cy="457200"/>
          </a:xfrm>
          <a:prstGeom prst="rect">
            <a:avLst/>
          </a:prstGeom>
          <a:noFill/>
          <a:ln/>
        </p:spPr>
        <p:txBody>
          <a:bodyPr wrap="square" rtlCol="0" anchor="ctr"/>
          <a:lstStyle/>
          <a:p>
            <a:pPr algn="ctr" indent="0" marL="0">
              <a:buNone/>
            </a:pPr>
            <a:r>
              <a:rPr lang="en-US" sz="2200" b="1" dirty="0">
                <a:solidFill>
                  <a:srgbClr val="0891B2"/>
                </a:solidFill>
                <a:latin typeface="Calibri" pitchFamily="34" charset="0"/>
                <a:ea typeface="Calibri" pitchFamily="34" charset="-122"/>
                <a:cs typeface="Calibri" pitchFamily="34" charset="-120"/>
              </a:rPr>
              <a:t>15%</a:t>
            </a:r>
            <a:endParaRPr lang="en-US" sz="2200" dirty="0"/>
          </a:p>
        </p:txBody>
      </p:sp>
      <p:sp>
        <p:nvSpPr>
          <p:cNvPr id="30" name="Text 28"/>
          <p:cNvSpPr/>
          <p:nvPr/>
        </p:nvSpPr>
        <p:spPr>
          <a:xfrm>
            <a:off x="3703320" y="3611880"/>
            <a:ext cx="1664208"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Experience</a:t>
            </a:r>
            <a:endParaRPr lang="en-US" sz="1300" dirty="0"/>
          </a:p>
        </p:txBody>
      </p:sp>
      <p:sp>
        <p:nvSpPr>
          <p:cNvPr id="31" name="Text 29"/>
          <p:cNvSpPr/>
          <p:nvPr/>
        </p:nvSpPr>
        <p:spPr>
          <a:xfrm>
            <a:off x="3776472" y="3913632"/>
            <a:ext cx="1517904" cy="8229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Years in JD sweet spot (5–9y) + education tier</a:t>
            </a:r>
            <a:endParaRPr lang="en-US" sz="950" dirty="0"/>
          </a:p>
        </p:txBody>
      </p:sp>
      <p:sp>
        <p:nvSpPr>
          <p:cNvPr id="32" name="Shape 30"/>
          <p:cNvSpPr/>
          <p:nvPr/>
        </p:nvSpPr>
        <p:spPr>
          <a:xfrm>
            <a:off x="5431536" y="3154680"/>
            <a:ext cx="1664208" cy="1691640"/>
          </a:xfrm>
          <a:prstGeom prst="roundRect">
            <a:avLst>
              <a:gd name="adj" fmla="val 5495"/>
            </a:avLst>
          </a:prstGeom>
          <a:solidFill>
            <a:srgbClr val="1E293B"/>
          </a:solidFill>
          <a:ln w="12700">
            <a:solidFill>
              <a:srgbClr val="F59E0B"/>
            </a:solidFill>
            <a:prstDash val="solid"/>
          </a:ln>
        </p:spPr>
      </p:sp>
      <p:sp>
        <p:nvSpPr>
          <p:cNvPr id="33" name="Text 31"/>
          <p:cNvSpPr/>
          <p:nvPr/>
        </p:nvSpPr>
        <p:spPr>
          <a:xfrm>
            <a:off x="5431536" y="3200400"/>
            <a:ext cx="1664208" cy="457200"/>
          </a:xfrm>
          <a:prstGeom prst="rect">
            <a:avLst/>
          </a:prstGeom>
          <a:noFill/>
          <a:ln/>
        </p:spPr>
        <p:txBody>
          <a:bodyPr wrap="square" rtlCol="0" anchor="ctr"/>
          <a:lstStyle/>
          <a:p>
            <a:pPr algn="ctr" indent="0" marL="0">
              <a:buNone/>
            </a:pPr>
            <a:r>
              <a:rPr lang="en-US" sz="2200" b="1" dirty="0">
                <a:solidFill>
                  <a:srgbClr val="F59E0B"/>
                </a:solidFill>
                <a:latin typeface="Calibri" pitchFamily="34" charset="0"/>
                <a:ea typeface="Calibri" pitchFamily="34" charset="-122"/>
                <a:cs typeface="Calibri" pitchFamily="34" charset="-120"/>
              </a:rPr>
              <a:t>20%</a:t>
            </a:r>
            <a:endParaRPr lang="en-US" sz="2200" dirty="0"/>
          </a:p>
        </p:txBody>
      </p:sp>
      <p:sp>
        <p:nvSpPr>
          <p:cNvPr id="34" name="Text 32"/>
          <p:cNvSpPr/>
          <p:nvPr/>
        </p:nvSpPr>
        <p:spPr>
          <a:xfrm>
            <a:off x="5431536" y="3611880"/>
            <a:ext cx="1664208"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Logistics</a:t>
            </a:r>
            <a:endParaRPr lang="en-US" sz="1300" dirty="0"/>
          </a:p>
        </p:txBody>
      </p:sp>
      <p:sp>
        <p:nvSpPr>
          <p:cNvPr id="35" name="Text 33"/>
          <p:cNvSpPr/>
          <p:nvPr/>
        </p:nvSpPr>
        <p:spPr>
          <a:xfrm>
            <a:off x="5504688" y="3913632"/>
            <a:ext cx="1517904" cy="8229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Location (Pune/Noida), notice period, relocation</a:t>
            </a:r>
            <a:endParaRPr lang="en-US" sz="950" dirty="0"/>
          </a:p>
        </p:txBody>
      </p:sp>
      <p:sp>
        <p:nvSpPr>
          <p:cNvPr id="36" name="Shape 34"/>
          <p:cNvSpPr/>
          <p:nvPr/>
        </p:nvSpPr>
        <p:spPr>
          <a:xfrm>
            <a:off x="7159752" y="3154680"/>
            <a:ext cx="1664208" cy="1691640"/>
          </a:xfrm>
          <a:prstGeom prst="roundRect">
            <a:avLst>
              <a:gd name="adj" fmla="val 5495"/>
            </a:avLst>
          </a:prstGeom>
          <a:solidFill>
            <a:srgbClr val="1E293B"/>
          </a:solidFill>
          <a:ln w="12700">
            <a:solidFill>
              <a:srgbClr val="16A34A"/>
            </a:solidFill>
            <a:prstDash val="solid"/>
          </a:ln>
        </p:spPr>
      </p:sp>
      <p:sp>
        <p:nvSpPr>
          <p:cNvPr id="37" name="Text 35"/>
          <p:cNvSpPr/>
          <p:nvPr/>
        </p:nvSpPr>
        <p:spPr>
          <a:xfrm>
            <a:off x="7159752" y="3200400"/>
            <a:ext cx="1664208" cy="457200"/>
          </a:xfrm>
          <a:prstGeom prst="rect">
            <a:avLst/>
          </a:prstGeom>
          <a:noFill/>
          <a:ln/>
        </p:spPr>
        <p:txBody>
          <a:bodyPr wrap="square" rtlCol="0" anchor="ctr"/>
          <a:lstStyle/>
          <a:p>
            <a:pPr algn="ctr" indent="0" marL="0">
              <a:buNone/>
            </a:pPr>
            <a:r>
              <a:rPr lang="en-US" sz="2200" b="1" dirty="0">
                <a:solidFill>
                  <a:srgbClr val="16A34A"/>
                </a:solidFill>
                <a:latin typeface="Calibri" pitchFamily="34" charset="0"/>
                <a:ea typeface="Calibri" pitchFamily="34" charset="-122"/>
                <a:cs typeface="Calibri" pitchFamily="34" charset="-120"/>
              </a:rPr>
              <a:t>×mult</a:t>
            </a:r>
            <a:endParaRPr lang="en-US" sz="2200" dirty="0"/>
          </a:p>
        </p:txBody>
      </p:sp>
      <p:sp>
        <p:nvSpPr>
          <p:cNvPr id="38" name="Text 36"/>
          <p:cNvSpPr/>
          <p:nvPr/>
        </p:nvSpPr>
        <p:spPr>
          <a:xfrm>
            <a:off x="7159752" y="3611880"/>
            <a:ext cx="1664208"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Behavioral</a:t>
            </a:r>
            <a:endParaRPr lang="en-US" sz="1300" dirty="0"/>
          </a:p>
        </p:txBody>
      </p:sp>
      <p:sp>
        <p:nvSpPr>
          <p:cNvPr id="39" name="Text 37"/>
          <p:cNvSpPr/>
          <p:nvPr/>
        </p:nvSpPr>
        <p:spPr>
          <a:xfrm>
            <a:off x="7232904" y="3913632"/>
            <a:ext cx="1517904" cy="8229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Recency, response rate, GitHub, open-to-work</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Signal 1: Career (Weight 35%) — The Decisive Signal</a:t>
            </a:r>
            <a:endParaRPr lang="en-US" sz="2400" dirty="0"/>
          </a:p>
        </p:txBody>
      </p:sp>
      <p:sp>
        <p:nvSpPr>
          <p:cNvPr id="3" name="Text 1"/>
          <p:cNvSpPr/>
          <p:nvPr/>
        </p:nvSpPr>
        <p:spPr>
          <a:xfrm>
            <a:off x="457200" y="704088"/>
            <a:ext cx="8229600" cy="320040"/>
          </a:xfrm>
          <a:prstGeom prst="rect">
            <a:avLst/>
          </a:prstGeom>
          <a:noFill/>
          <a:ln/>
        </p:spPr>
        <p:txBody>
          <a:bodyPr wrap="square"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JD said: don't keyword-match. A Marketing Manager with 9 AI skills is NOT a fit.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1371600"/>
        </p:xfrm>
        <a:graphic>
          <a:graphicData uri="http://schemas.openxmlformats.org/drawingml/2006/table">
            <a:tbl>
              <a:tblPr/>
              <a:tblGrid>
                <a:gridCol w="2286000"/>
                <a:gridCol w="4114800"/>
                <a:gridCol w="1828800"/>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Title Category</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Base Score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r>
              <a:tr h="27432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Strong AI title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ML Engineer, Search Engineer, NLP Engineer, AI Engineer</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0.40</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Good tech title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Data Scientist, Backend Engineer, Senior Software Engineer</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0.22</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Tech adjacent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Full Stack Dev, Cloud Engineer, DevOps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0.08</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Non-tech (HR, Marketing, etc.)</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HR Manager, Content Writer, Accountant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0.01</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2651760"/>
            <a:ext cx="2697480" cy="2286000"/>
          </a:xfrm>
          <a:prstGeom prst="roundRect">
            <a:avLst>
              <a:gd name="adj" fmla="val 4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3"/>
          <p:cNvSpPr/>
          <p:nvPr/>
        </p:nvSpPr>
        <p:spPr>
          <a:xfrm>
            <a:off x="365760" y="2651760"/>
            <a:ext cx="2697480" cy="347472"/>
          </a:xfrm>
          <a:prstGeom prst="roundRect">
            <a:avLst>
              <a:gd name="adj" fmla="val 26316"/>
            </a:avLst>
          </a:prstGeom>
          <a:solidFill>
            <a:srgbClr val="0D9488"/>
          </a:solidFill>
          <a:ln w="12700">
            <a:solidFill>
              <a:srgbClr val="0D9488"/>
            </a:solidFill>
            <a:prstDash val="solid"/>
          </a:ln>
        </p:spPr>
      </p:sp>
      <p:sp>
        <p:nvSpPr>
          <p:cNvPr id="7" name="Text 4"/>
          <p:cNvSpPr/>
          <p:nvPr/>
        </p:nvSpPr>
        <p:spPr>
          <a:xfrm>
            <a:off x="457200" y="2651760"/>
            <a:ext cx="251460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Production AI Detection</a:t>
            </a:r>
            <a:endParaRPr lang="en-US" sz="1100" dirty="0"/>
          </a:p>
        </p:txBody>
      </p:sp>
      <p:sp>
        <p:nvSpPr>
          <p:cNvPr id="8" name="Text 5"/>
          <p:cNvSpPr/>
          <p:nvPr/>
        </p:nvSpPr>
        <p:spPr>
          <a:xfrm>
            <a:off x="457200" y="3063240"/>
            <a:ext cx="2514600" cy="1828800"/>
          </a:xfrm>
          <a:prstGeom prst="rect">
            <a:avLst/>
          </a:prstGeom>
          <a:noFill/>
          <a:ln/>
        </p:spPr>
        <p:txBody>
          <a:bodyPr wrap="square" rtlCol="0" anchor="ctr"/>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Scans all job descriptions for: ranking, retrieval, embedding, vector, inference, A/B test, model serving, rerank, semantic</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3+ keyword hits in a single job → counts as 'production AI role'</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Product-company AI months get extra weight over consulting AI months</a:t>
            </a:r>
            <a:endParaRPr lang="en-US" sz="1000" dirty="0"/>
          </a:p>
        </p:txBody>
      </p:sp>
      <p:sp>
        <p:nvSpPr>
          <p:cNvPr id="9" name="Shape 6"/>
          <p:cNvSpPr/>
          <p:nvPr/>
        </p:nvSpPr>
        <p:spPr>
          <a:xfrm>
            <a:off x="3200400" y="2651760"/>
            <a:ext cx="2697480" cy="2286000"/>
          </a:xfrm>
          <a:prstGeom prst="roundRect">
            <a:avLst>
              <a:gd name="adj" fmla="val 4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0" name="Shape 7"/>
          <p:cNvSpPr/>
          <p:nvPr/>
        </p:nvSpPr>
        <p:spPr>
          <a:xfrm>
            <a:off x="3200400" y="2651760"/>
            <a:ext cx="2697480" cy="347472"/>
          </a:xfrm>
          <a:prstGeom prst="roundRect">
            <a:avLst>
              <a:gd name="adj" fmla="val 26316"/>
            </a:avLst>
          </a:prstGeom>
          <a:solidFill>
            <a:srgbClr val="DC2626"/>
          </a:solidFill>
          <a:ln w="12700">
            <a:solidFill>
              <a:srgbClr val="DC2626"/>
            </a:solidFill>
            <a:prstDash val="solid"/>
          </a:ln>
        </p:spPr>
      </p:sp>
      <p:sp>
        <p:nvSpPr>
          <p:cNvPr id="11" name="Text 8"/>
          <p:cNvSpPr/>
          <p:nvPr/>
        </p:nvSpPr>
        <p:spPr>
          <a:xfrm>
            <a:off x="3291840" y="2651760"/>
            <a:ext cx="251460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Consulting Firm Penalty</a:t>
            </a:r>
            <a:endParaRPr lang="en-US" sz="1100" dirty="0"/>
          </a:p>
        </p:txBody>
      </p:sp>
      <p:sp>
        <p:nvSpPr>
          <p:cNvPr id="12" name="Text 9"/>
          <p:cNvSpPr/>
          <p:nvPr/>
        </p:nvSpPr>
        <p:spPr>
          <a:xfrm>
            <a:off x="3291840" y="3063240"/>
            <a:ext cx="2514600" cy="1828800"/>
          </a:xfrm>
          <a:prstGeom prst="rect">
            <a:avLst/>
          </a:prstGeom>
          <a:noFill/>
          <a:ln/>
        </p:spPr>
        <p:txBody>
          <a:bodyPr wrap="square" rtlCol="0" anchor="ctr"/>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Pure consulting career (TCS, Infosys, Wipro, Accenture…) → score × 0.25</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Majority consulting → score × 0.60</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Mixed consulting+product → score × 0.85</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JD explicitly disqualified pure consulting backgrounds</a:t>
            </a:r>
            <a:endParaRPr lang="en-US" sz="1000" dirty="0"/>
          </a:p>
        </p:txBody>
      </p:sp>
      <p:sp>
        <p:nvSpPr>
          <p:cNvPr id="13" name="Shape 10"/>
          <p:cNvSpPr/>
          <p:nvPr/>
        </p:nvSpPr>
        <p:spPr>
          <a:xfrm>
            <a:off x="6035040" y="2651760"/>
            <a:ext cx="2697480" cy="2286000"/>
          </a:xfrm>
          <a:prstGeom prst="roundRect">
            <a:avLst>
              <a:gd name="adj" fmla="val 4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Shape 11"/>
          <p:cNvSpPr/>
          <p:nvPr/>
        </p:nvSpPr>
        <p:spPr>
          <a:xfrm>
            <a:off x="6035040" y="2651760"/>
            <a:ext cx="2697480" cy="347472"/>
          </a:xfrm>
          <a:prstGeom prst="roundRect">
            <a:avLst>
              <a:gd name="adj" fmla="val 26316"/>
            </a:avLst>
          </a:prstGeom>
          <a:solidFill>
            <a:srgbClr val="7C3AED"/>
          </a:solidFill>
          <a:ln w="12700">
            <a:solidFill>
              <a:srgbClr val="7C3AED"/>
            </a:solidFill>
            <a:prstDash val="solid"/>
          </a:ln>
        </p:spPr>
      </p:sp>
      <p:sp>
        <p:nvSpPr>
          <p:cNvPr id="15" name="Text 12"/>
          <p:cNvSpPr/>
          <p:nvPr/>
        </p:nvSpPr>
        <p:spPr>
          <a:xfrm>
            <a:off x="6126480" y="2651760"/>
            <a:ext cx="251460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Retrieval/Ranking Bonus</a:t>
            </a:r>
            <a:endParaRPr lang="en-US" sz="1100" dirty="0"/>
          </a:p>
        </p:txBody>
      </p:sp>
      <p:sp>
        <p:nvSpPr>
          <p:cNvPr id="16" name="Text 13"/>
          <p:cNvSpPr/>
          <p:nvPr/>
        </p:nvSpPr>
        <p:spPr>
          <a:xfrm>
            <a:off x="6126480" y="3063240"/>
            <a:ext cx="2514600" cy="1828800"/>
          </a:xfrm>
          <a:prstGeom prst="rect">
            <a:avLst/>
          </a:prstGeom>
          <a:noFill/>
          <a:ln/>
        </p:spPr>
        <p:txBody>
          <a:bodyPr wrap="square" rtlCol="0" anchor="ctr"/>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Extra +0.20 for candidates with ranking, retrieval, vector search, recommendation in their actual work descriptions</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This rewards the "Tier 5 candidate" the JD described: built a real system without using the hot keywords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412480" cy="475488"/>
          </a:xfrm>
          <a:prstGeom prst="rect">
            <a:avLst/>
          </a:prstGeom>
          <a:noFill/>
          <a:ln/>
        </p:spPr>
        <p:txBody>
          <a:bodyPr wrap="square"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Signal 2: Skills (Weight 30%) — Anti-Keyword-Stuffing Trust Score</a:t>
            </a:r>
            <a:endParaRPr lang="en-US" sz="2400" dirty="0"/>
          </a:p>
        </p:txBody>
      </p:sp>
      <p:sp>
        <p:nvSpPr>
          <p:cNvPr id="3" name="Shape 1"/>
          <p:cNvSpPr/>
          <p:nvPr/>
        </p:nvSpPr>
        <p:spPr>
          <a:xfrm>
            <a:off x="365760" y="868680"/>
            <a:ext cx="4114800" cy="1828800"/>
          </a:xfrm>
          <a:prstGeom prst="roundRect">
            <a:avLst>
              <a:gd name="adj" fmla="val 5000"/>
            </a:avLst>
          </a:prstGeom>
          <a:solidFill>
            <a:srgbClr val="1E293B"/>
          </a:solidFill>
          <a:ln w="12700">
            <a:solidFill>
              <a:srgbClr val="0D9488"/>
            </a:solidFill>
            <a:prstDash val="solid"/>
          </a:ln>
        </p:spPr>
      </p:sp>
      <p:sp>
        <p:nvSpPr>
          <p:cNvPr id="4" name="Text 2"/>
          <p:cNvSpPr/>
          <p:nvPr/>
        </p:nvSpPr>
        <p:spPr>
          <a:xfrm>
            <a:off x="502920" y="932688"/>
            <a:ext cx="3840480" cy="320040"/>
          </a:xfrm>
          <a:prstGeom prst="rect">
            <a:avLst/>
          </a:prstGeom>
          <a:noFill/>
          <a:ln/>
        </p:spPr>
        <p:txBody>
          <a:bodyPr wrap="square"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Effective Skill Score</a:t>
            </a:r>
            <a:endParaRPr lang="en-US" sz="1300" dirty="0"/>
          </a:p>
        </p:txBody>
      </p:sp>
      <p:sp>
        <p:nvSpPr>
          <p:cNvPr id="5" name="Text 3"/>
          <p:cNvSpPr/>
          <p:nvPr/>
        </p:nvSpPr>
        <p:spPr>
          <a:xfrm>
            <a:off x="502920" y="1280160"/>
            <a:ext cx="3840480" cy="1325880"/>
          </a:xfrm>
          <a:prstGeom prst="rect">
            <a:avLst/>
          </a:prstGeom>
          <a:noFill/>
          <a:ln/>
        </p:spPr>
        <p:txBody>
          <a:bodyPr wrap="square"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effective = proficiency_weight × duration_trust</a:t>
            </a:r>
            <a:endParaRPr lang="en-US" sz="1200" dirty="0"/>
          </a:p>
          <a:p>
            <a:pPr indent="0" marL="0">
              <a:buNone/>
            </a:pPr>
            <a:endParaRPr lang="en-US" sz="1200" dirty="0"/>
          </a:p>
          <a:p>
            <a:pPr indent="0" marL="0">
              <a:buNone/>
            </a:pPr>
            <a:r>
              <a:rPr lang="en-US" sz="1100" dirty="0">
                <a:solidFill>
                  <a:srgbClr val="94A3B8"/>
                </a:solidFill>
                <a:latin typeface="Courier New" pitchFamily="34" charset="0"/>
                <a:ea typeface="Courier New" pitchFamily="34" charset="-122"/>
                <a:cs typeface="Courier New" pitchFamily="34" charset="-120"/>
              </a:rPr>
              <a:t>if assessment_score exists:</a:t>
            </a:r>
            <a:endParaRPr lang="en-US" sz="1200" dirty="0"/>
          </a:p>
          <a:p>
            <a:pPr indent="0" marL="0">
              <a:buNone/>
            </a:pPr>
            <a:r>
              <a:rPr lang="en-US" sz="1100" dirty="0">
                <a:solidFill>
                  <a:srgbClr val="14B8A6"/>
                </a:solidFill>
                <a:latin typeface="Courier New" pitchFamily="34" charset="0"/>
                <a:ea typeface="Courier New" pitchFamily="34" charset="-122"/>
                <a:cs typeface="Courier New" pitchFamily="34" charset="-120"/>
              </a:rPr>
              <a:t>  effective = 0.4×proficiency + 0.6×assessment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63440" y="868680"/>
          <a:ext cx="4114800" cy="1600200"/>
        </p:xfrm>
        <a:graphic>
          <a:graphicData uri="http://schemas.openxmlformats.org/drawingml/2006/table">
            <a:tbl>
              <a:tblPr/>
              <a:tblGrid>
                <a:gridCol w="1371600"/>
                <a:gridCol w="1097280"/>
                <a:gridCol w="164592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Duration Used</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Trust Weight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r>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 months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0.30×</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Likely keyword stuffed</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&lt; 6 months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Very light exposure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6–18 months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0.75×</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Moderate usage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18+ months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Real, sustained skill</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hape 4"/>
          <p:cNvSpPr/>
          <p:nvPr/>
        </p:nvSpPr>
        <p:spPr>
          <a:xfrm>
            <a:off x="365760" y="2834640"/>
            <a:ext cx="8412480" cy="2011680"/>
          </a:xfrm>
          <a:prstGeom prst="roundRect">
            <a:avLst>
              <a:gd name="adj" fmla="val 4545"/>
            </a:avLst>
          </a:prstGeom>
          <a:solidFill>
            <a:srgbClr val="CCFBF1"/>
          </a:solidFill>
          <a:ln w="12700">
            <a:solidFill>
              <a:srgbClr val="A7F3D0"/>
            </a:solidFill>
            <a:prstDash val="solid"/>
          </a:ln>
        </p:spPr>
      </p:sp>
      <p:sp>
        <p:nvSpPr>
          <p:cNvPr id="8" name="Text 5"/>
          <p:cNvSpPr/>
          <p:nvPr/>
        </p:nvSpPr>
        <p:spPr>
          <a:xfrm>
            <a:off x="502920" y="2907792"/>
            <a:ext cx="822960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19 Core AI/Retrieval Skills (Full Weight)</a:t>
            </a:r>
            <a:endParaRPr lang="en-US" sz="1300" dirty="0"/>
          </a:p>
        </p:txBody>
      </p:sp>
      <p:sp>
        <p:nvSpPr>
          <p:cNvPr id="9" name="Text 6"/>
          <p:cNvSpPr/>
          <p:nvPr/>
        </p:nvSpPr>
        <p:spPr>
          <a:xfrm>
            <a:off x="502920" y="3246120"/>
            <a:ext cx="8229600" cy="73152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Embeddings · Sentence Transformers · Vector Search · Semantic Search · Information Retrieval · FAISS · Pinecone · Weaviate · Qdrant · Milvus · pgvector · Elasticsearch · OpenSearch · RAG · LLMs · Fine-tuning LLMs · Hugging Face Transformers · BM25 · Learning to Rank</a:t>
            </a:r>
            <a:endParaRPr lang="en-US" sz="1100" dirty="0"/>
          </a:p>
        </p:txBody>
      </p:sp>
      <p:sp>
        <p:nvSpPr>
          <p:cNvPr id="10" name="Text 7"/>
          <p:cNvSpPr/>
          <p:nvPr/>
        </p:nvSpPr>
        <p:spPr>
          <a:xfrm>
            <a:off x="502920" y="4005072"/>
            <a:ext cx="8229600" cy="502920"/>
          </a:xfrm>
          <a:prstGeom prst="rect">
            <a:avLst/>
          </a:prstGeom>
          <a:noFill/>
          <a:ln/>
        </p:spPr>
        <p:txBody>
          <a:bodyPr wrap="square" rtlCol="0" anchor="ctr"/>
          <a:lstStyle/>
          <a:p>
            <a:pPr indent="0" marL="0">
              <a:buNone/>
            </a:pPr>
            <a:r>
              <a:rPr lang="en-US" sz="1050" i="1" dirty="0">
                <a:solidFill>
                  <a:srgbClr val="475569"/>
                </a:solidFill>
                <a:latin typeface="Calibri" pitchFamily="34" charset="0"/>
                <a:ea typeface="Calibri" pitchFamily="34" charset="-122"/>
                <a:cs typeface="Calibri" pitchFamily="34" charset="-120"/>
              </a:rPr>
              <a:t>+ 20 bonus skills (40% weight): PyTorch, TensorFlow, NLP, LoRA, QLoRA, XGBoost, Python, Deep Learning, MLflow, A/B Testing, Recommendation Systems, Docker, Kubernetes…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01168"/>
            <a:ext cx="841248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Signal 5: Behavioral Multiplier — Is This Candidate Actually Reachable?</a:t>
            </a:r>
            <a:endParaRPr lang="en-US" sz="2200" dirty="0"/>
          </a:p>
        </p:txBody>
      </p:sp>
      <p:sp>
        <p:nvSpPr>
          <p:cNvPr id="3" name="Text 1"/>
          <p:cNvSpPr/>
          <p:nvPr/>
        </p:nvSpPr>
        <p:spPr>
          <a:xfrm>
            <a:off x="457200" y="713232"/>
            <a:ext cx="8412480" cy="41148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"A perfect-on-paper candidate who hasn't logged in for 6 months and has a 5% response rate is not actually available." — JD</a:t>
            </a:r>
            <a:endParaRPr lang="en-US" sz="1200" dirty="0"/>
          </a:p>
        </p:txBody>
      </p:sp>
      <p:sp>
        <p:nvSpPr>
          <p:cNvPr id="4" name="Shape 2"/>
          <p:cNvSpPr/>
          <p:nvPr/>
        </p:nvSpPr>
        <p:spPr>
          <a:xfrm>
            <a:off x="457200" y="1280160"/>
            <a:ext cx="8229600" cy="502920"/>
          </a:xfrm>
          <a:prstGeom prst="roundRect">
            <a:avLst>
              <a:gd name="adj" fmla="val 14545"/>
            </a:avLst>
          </a:prstGeom>
          <a:solidFill>
            <a:srgbClr val="1E293B"/>
          </a:solidFill>
          <a:ln w="12700">
            <a:solidFill>
              <a:srgbClr val="1E293B"/>
            </a:solidFill>
            <a:prstDash val="solid"/>
          </a:ln>
        </p:spPr>
      </p:sp>
      <p:sp>
        <p:nvSpPr>
          <p:cNvPr id="5" name="Shape 3"/>
          <p:cNvSpPr/>
          <p:nvPr/>
        </p:nvSpPr>
        <p:spPr>
          <a:xfrm>
            <a:off x="457200" y="1280160"/>
            <a:ext cx="1463040" cy="502920"/>
          </a:xfrm>
          <a:prstGeom prst="roundRect">
            <a:avLst/>
          </a:prstGeom>
          <a:solidFill>
            <a:srgbClr val="DC2626"/>
          </a:solidFill>
          <a:ln w="12700">
            <a:solidFill>
              <a:srgbClr val="DC2626"/>
            </a:solidFill>
            <a:prstDash val="solid"/>
          </a:ln>
        </p:spPr>
      </p:sp>
      <p:sp>
        <p:nvSpPr>
          <p:cNvPr id="6" name="Text 4"/>
          <p:cNvSpPr/>
          <p:nvPr/>
        </p:nvSpPr>
        <p:spPr>
          <a:xfrm>
            <a:off x="457200" y="1280160"/>
            <a:ext cx="146304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0.30×</a:t>
            </a:r>
            <a:endParaRPr lang="en-US" sz="1200" dirty="0"/>
          </a:p>
        </p:txBody>
      </p:sp>
      <p:sp>
        <p:nvSpPr>
          <p:cNvPr id="7" name="Text 5"/>
          <p:cNvSpPr/>
          <p:nvPr/>
        </p:nvSpPr>
        <p:spPr>
          <a:xfrm>
            <a:off x="457200" y="1536192"/>
            <a:ext cx="1463040" cy="22860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Inactive + no response</a:t>
            </a:r>
            <a:endParaRPr lang="en-US" sz="850" dirty="0"/>
          </a:p>
        </p:txBody>
      </p:sp>
      <p:sp>
        <p:nvSpPr>
          <p:cNvPr id="8" name="Shape 6"/>
          <p:cNvSpPr/>
          <p:nvPr/>
        </p:nvSpPr>
        <p:spPr>
          <a:xfrm>
            <a:off x="1920240" y="1280160"/>
            <a:ext cx="1463040" cy="502920"/>
          </a:xfrm>
          <a:prstGeom prst="roundRect">
            <a:avLst/>
          </a:prstGeom>
          <a:solidFill>
            <a:srgbClr val="F97316"/>
          </a:solidFill>
          <a:ln w="12700">
            <a:solidFill>
              <a:srgbClr val="F97316"/>
            </a:solidFill>
            <a:prstDash val="solid"/>
          </a:ln>
        </p:spPr>
      </p:sp>
      <p:sp>
        <p:nvSpPr>
          <p:cNvPr id="9" name="Text 7"/>
          <p:cNvSpPr/>
          <p:nvPr/>
        </p:nvSpPr>
        <p:spPr>
          <a:xfrm>
            <a:off x="1920240" y="1280160"/>
            <a:ext cx="146304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0.55×</a:t>
            </a:r>
            <a:endParaRPr lang="en-US" sz="1200" dirty="0"/>
          </a:p>
        </p:txBody>
      </p:sp>
      <p:sp>
        <p:nvSpPr>
          <p:cNvPr id="10" name="Text 8"/>
          <p:cNvSpPr/>
          <p:nvPr/>
        </p:nvSpPr>
        <p:spPr>
          <a:xfrm>
            <a:off x="1920240" y="1536192"/>
            <a:ext cx="1463040" cy="22860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6m+ inactive</a:t>
            </a:r>
            <a:endParaRPr lang="en-US" sz="850" dirty="0"/>
          </a:p>
        </p:txBody>
      </p:sp>
      <p:sp>
        <p:nvSpPr>
          <p:cNvPr id="11" name="Shape 9"/>
          <p:cNvSpPr/>
          <p:nvPr/>
        </p:nvSpPr>
        <p:spPr>
          <a:xfrm>
            <a:off x="3383280" y="1280160"/>
            <a:ext cx="1463040" cy="502920"/>
          </a:xfrm>
          <a:prstGeom prst="roundRect">
            <a:avLst/>
          </a:prstGeom>
          <a:solidFill>
            <a:srgbClr val="F59E0B"/>
          </a:solidFill>
          <a:ln w="12700">
            <a:solidFill>
              <a:srgbClr val="F59E0B"/>
            </a:solidFill>
            <a:prstDash val="solid"/>
          </a:ln>
        </p:spPr>
      </p:sp>
      <p:sp>
        <p:nvSpPr>
          <p:cNvPr id="12" name="Text 10"/>
          <p:cNvSpPr/>
          <p:nvPr/>
        </p:nvSpPr>
        <p:spPr>
          <a:xfrm>
            <a:off x="3383280" y="1280160"/>
            <a:ext cx="146304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0.80×</a:t>
            </a:r>
            <a:endParaRPr lang="en-US" sz="1200" dirty="0"/>
          </a:p>
        </p:txBody>
      </p:sp>
      <p:sp>
        <p:nvSpPr>
          <p:cNvPr id="13" name="Text 11"/>
          <p:cNvSpPr/>
          <p:nvPr/>
        </p:nvSpPr>
        <p:spPr>
          <a:xfrm>
            <a:off x="3383280" y="1536192"/>
            <a:ext cx="1463040" cy="22860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Not open to work</a:t>
            </a:r>
            <a:endParaRPr lang="en-US" sz="850" dirty="0"/>
          </a:p>
        </p:txBody>
      </p:sp>
      <p:sp>
        <p:nvSpPr>
          <p:cNvPr id="14" name="Shape 12"/>
          <p:cNvSpPr/>
          <p:nvPr/>
        </p:nvSpPr>
        <p:spPr>
          <a:xfrm>
            <a:off x="4846320" y="1280160"/>
            <a:ext cx="1371600" cy="502920"/>
          </a:xfrm>
          <a:prstGeom prst="roundRect">
            <a:avLst/>
          </a:prstGeom>
          <a:solidFill>
            <a:srgbClr val="0D9488"/>
          </a:solidFill>
          <a:ln w="12700">
            <a:solidFill>
              <a:srgbClr val="0D9488"/>
            </a:solidFill>
            <a:prstDash val="solid"/>
          </a:ln>
        </p:spPr>
      </p:sp>
      <p:sp>
        <p:nvSpPr>
          <p:cNvPr id="15" name="Text 13"/>
          <p:cNvSpPr/>
          <p:nvPr/>
        </p:nvSpPr>
        <p:spPr>
          <a:xfrm>
            <a:off x="4846320" y="1280160"/>
            <a:ext cx="137160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1.00×</a:t>
            </a:r>
            <a:endParaRPr lang="en-US" sz="1200" dirty="0"/>
          </a:p>
        </p:txBody>
      </p:sp>
      <p:sp>
        <p:nvSpPr>
          <p:cNvPr id="16" name="Text 14"/>
          <p:cNvSpPr/>
          <p:nvPr/>
        </p:nvSpPr>
        <p:spPr>
          <a:xfrm>
            <a:off x="4846320" y="1536192"/>
            <a:ext cx="1371600" cy="22860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Baseline</a:t>
            </a:r>
            <a:endParaRPr lang="en-US" sz="850" dirty="0"/>
          </a:p>
        </p:txBody>
      </p:sp>
      <p:sp>
        <p:nvSpPr>
          <p:cNvPr id="17" name="Shape 15"/>
          <p:cNvSpPr/>
          <p:nvPr/>
        </p:nvSpPr>
        <p:spPr>
          <a:xfrm>
            <a:off x="6217920" y="1280160"/>
            <a:ext cx="2468880" cy="502920"/>
          </a:xfrm>
          <a:prstGeom prst="roundRect">
            <a:avLst/>
          </a:prstGeom>
          <a:solidFill>
            <a:srgbClr val="16A34A"/>
          </a:solidFill>
          <a:ln w="12700">
            <a:solidFill>
              <a:srgbClr val="16A34A"/>
            </a:solidFill>
            <a:prstDash val="solid"/>
          </a:ln>
        </p:spPr>
      </p:sp>
      <p:sp>
        <p:nvSpPr>
          <p:cNvPr id="18" name="Text 16"/>
          <p:cNvSpPr/>
          <p:nvPr/>
        </p:nvSpPr>
        <p:spPr>
          <a:xfrm>
            <a:off x="6217920" y="1280160"/>
            <a:ext cx="246888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1.30×</a:t>
            </a:r>
            <a:endParaRPr lang="en-US" sz="1200" dirty="0"/>
          </a:p>
        </p:txBody>
      </p:sp>
      <p:sp>
        <p:nvSpPr>
          <p:cNvPr id="19" name="Text 17"/>
          <p:cNvSpPr/>
          <p:nvPr/>
        </p:nvSpPr>
        <p:spPr>
          <a:xfrm>
            <a:off x="6217920" y="1536192"/>
            <a:ext cx="2468880" cy="22860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Active + high response + GitHub</a:t>
            </a:r>
            <a:endParaRPr lang="en-US" sz="850" dirty="0"/>
          </a:p>
        </p:txBody>
      </p:sp>
      <p:sp>
        <p:nvSpPr>
          <p:cNvPr id="20" name="Shape 18"/>
          <p:cNvSpPr/>
          <p:nvPr/>
        </p:nvSpPr>
        <p:spPr>
          <a:xfrm>
            <a:off x="365760" y="2011680"/>
            <a:ext cx="1965960" cy="2834640"/>
          </a:xfrm>
          <a:prstGeom prst="roundRect">
            <a:avLst>
              <a:gd name="adj" fmla="val 4651"/>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57200" y="2075688"/>
            <a:ext cx="1783080" cy="36576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Recency</a:t>
            </a:r>
            <a:endParaRPr lang="en-US" sz="1200" dirty="0"/>
          </a:p>
        </p:txBody>
      </p:sp>
      <p:sp>
        <p:nvSpPr>
          <p:cNvPr id="22" name="Text 20"/>
          <p:cNvSpPr/>
          <p:nvPr/>
        </p:nvSpPr>
        <p:spPr>
          <a:xfrm>
            <a:off x="457200" y="2487168"/>
            <a:ext cx="1783080" cy="2286000"/>
          </a:xfrm>
          <a:prstGeom prst="rect">
            <a:avLst/>
          </a:prstGeom>
          <a:noFill/>
          <a:ln/>
        </p:spPr>
        <p:txBody>
          <a:bodyPr wrap="square" rtlCol="0" anchor="ctr"/>
          <a:lstStyle/>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&lt; 14 days active: ×1.10</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30–90 days: ×0.90</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90–180 days: ×0.75</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180+ days (stale): ×0.55</a:t>
            </a:r>
            <a:endParaRPr lang="en-US" sz="1100" dirty="0"/>
          </a:p>
        </p:txBody>
      </p:sp>
      <p:sp>
        <p:nvSpPr>
          <p:cNvPr id="23" name="Shape 21"/>
          <p:cNvSpPr/>
          <p:nvPr/>
        </p:nvSpPr>
        <p:spPr>
          <a:xfrm>
            <a:off x="2441448" y="2011680"/>
            <a:ext cx="1965960" cy="2834640"/>
          </a:xfrm>
          <a:prstGeom prst="roundRect">
            <a:avLst>
              <a:gd name="adj" fmla="val 4651"/>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24" name="Text 22"/>
          <p:cNvSpPr/>
          <p:nvPr/>
        </p:nvSpPr>
        <p:spPr>
          <a:xfrm>
            <a:off x="2532888" y="2075688"/>
            <a:ext cx="1783080" cy="36576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Response Rate</a:t>
            </a:r>
            <a:endParaRPr lang="en-US" sz="1200" dirty="0"/>
          </a:p>
        </p:txBody>
      </p:sp>
      <p:sp>
        <p:nvSpPr>
          <p:cNvPr id="25" name="Text 23"/>
          <p:cNvSpPr/>
          <p:nvPr/>
        </p:nvSpPr>
        <p:spPr>
          <a:xfrm>
            <a:off x="2532888" y="2487168"/>
            <a:ext cx="1783080" cy="2286000"/>
          </a:xfrm>
          <a:prstGeom prst="rect">
            <a:avLst/>
          </a:prstGeom>
          <a:noFill/>
          <a:ln/>
        </p:spPr>
        <p:txBody>
          <a:bodyPr wrap="square" rtlCol="0" anchor="ctr"/>
          <a:lstStyle/>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&gt; 70% response rate: ×1.08</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40–70%: ×1.00 (neutral)</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20–40%: ×0.90</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&lt; 20%: ×0.75</a:t>
            </a:r>
            <a:endParaRPr lang="en-US" sz="1100" dirty="0"/>
          </a:p>
        </p:txBody>
      </p:sp>
      <p:sp>
        <p:nvSpPr>
          <p:cNvPr id="26" name="Shape 24"/>
          <p:cNvSpPr/>
          <p:nvPr/>
        </p:nvSpPr>
        <p:spPr>
          <a:xfrm>
            <a:off x="4517136" y="2011680"/>
            <a:ext cx="1965960" cy="2834640"/>
          </a:xfrm>
          <a:prstGeom prst="roundRect">
            <a:avLst>
              <a:gd name="adj" fmla="val 4651"/>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27" name="Text 25"/>
          <p:cNvSpPr/>
          <p:nvPr/>
        </p:nvSpPr>
        <p:spPr>
          <a:xfrm>
            <a:off x="4608576" y="2075688"/>
            <a:ext cx="1783080" cy="36576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GitHub Activity</a:t>
            </a:r>
            <a:endParaRPr lang="en-US" sz="1200" dirty="0"/>
          </a:p>
        </p:txBody>
      </p:sp>
      <p:sp>
        <p:nvSpPr>
          <p:cNvPr id="28" name="Text 26"/>
          <p:cNvSpPr/>
          <p:nvPr/>
        </p:nvSpPr>
        <p:spPr>
          <a:xfrm>
            <a:off x="4608576" y="2487168"/>
            <a:ext cx="1783080" cy="2286000"/>
          </a:xfrm>
          <a:prstGeom prst="rect">
            <a:avLst/>
          </a:prstGeom>
          <a:noFill/>
          <a:ln/>
        </p:spPr>
        <p:txBody>
          <a:bodyPr wrap="square" rtlCol="0" anchor="ctr"/>
          <a:lstStyle/>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Score 60+: ×1.10</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Score 30-60: ×1.05</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Score &lt; 10: ×0.95</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No GitHub linked: ×0.95</a:t>
            </a:r>
            <a:endParaRPr lang="en-US" sz="1100" dirty="0"/>
          </a:p>
        </p:txBody>
      </p:sp>
      <p:sp>
        <p:nvSpPr>
          <p:cNvPr id="29" name="Shape 27"/>
          <p:cNvSpPr/>
          <p:nvPr/>
        </p:nvSpPr>
        <p:spPr>
          <a:xfrm>
            <a:off x="6592824" y="2011680"/>
            <a:ext cx="1965960" cy="2834640"/>
          </a:xfrm>
          <a:prstGeom prst="roundRect">
            <a:avLst>
              <a:gd name="adj" fmla="val 4651"/>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6684264" y="2075688"/>
            <a:ext cx="1783080" cy="36576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Open to Work</a:t>
            </a:r>
            <a:endParaRPr lang="en-US" sz="1200" dirty="0"/>
          </a:p>
        </p:txBody>
      </p:sp>
      <p:sp>
        <p:nvSpPr>
          <p:cNvPr id="31" name="Text 29"/>
          <p:cNvSpPr/>
          <p:nvPr/>
        </p:nvSpPr>
        <p:spPr>
          <a:xfrm>
            <a:off x="6684264" y="2487168"/>
            <a:ext cx="1783080" cy="2286000"/>
          </a:xfrm>
          <a:prstGeom prst="rect">
            <a:avLst/>
          </a:prstGeom>
          <a:noFill/>
          <a:ln/>
        </p:spPr>
        <p:txBody>
          <a:bodyPr wrap="square" rtlCol="0" anchor="ctr"/>
          <a:lstStyle/>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Flag = true: no penalty</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Flag = false: ×0.80</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Also checks: saved by recruiters</a:t>
            </a:r>
            <a:endParaRPr lang="en-US" sz="1100" dirty="0"/>
          </a:p>
          <a:p>
            <a:pPr marL="342900" indent="-342900">
              <a:spcAft>
                <a:spcPts val="700"/>
              </a:spcAft>
              <a:buSzPct val="100000"/>
              <a:buChar char="•"/>
            </a:pPr>
            <a:r>
              <a:rPr lang="en-US" sz="1100" dirty="0">
                <a:solidFill>
                  <a:srgbClr val="94A3B8"/>
                </a:solidFill>
                <a:latin typeface="Calibri" pitchFamily="34" charset="0"/>
                <a:ea typeface="Calibri" pitchFamily="34" charset="-122"/>
                <a:cs typeface="Calibri" pitchFamily="34" charset="-120"/>
              </a:rPr>
              <a:t>Interview completion rate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Honeypot Detection — Catching Impossible Profiles</a:t>
            </a:r>
            <a:endParaRPr lang="en-US" sz="2400" dirty="0"/>
          </a:p>
        </p:txBody>
      </p:sp>
      <p:sp>
        <p:nvSpPr>
          <p:cNvPr id="3" name="Text 1"/>
          <p:cNvSpPr/>
          <p:nvPr/>
        </p:nvSpPr>
        <p:spPr>
          <a:xfrm>
            <a:off x="457200" y="704088"/>
            <a:ext cx="8229600" cy="320040"/>
          </a:xfrm>
          <a:prstGeom prst="rect">
            <a:avLst/>
          </a:prstGeom>
          <a:noFill/>
          <a:ln/>
        </p:spPr>
        <p:txBody>
          <a:bodyPr wrap="square" rtlCol="0" anchor="ctr"/>
          <a:lstStyle/>
          <a:p>
            <a:pPr indent="0" marL="0">
              <a:buNone/>
            </a:pPr>
            <a:r>
              <a:rPr lang="en-US" sz="1300" i="1" dirty="0">
                <a:solidFill>
                  <a:srgbClr val="DC2626"/>
                </a:solidFill>
                <a:latin typeface="Calibri" pitchFamily="34" charset="0"/>
                <a:ea typeface="Calibri" pitchFamily="34" charset="-122"/>
                <a:cs typeface="Calibri" pitchFamily="34" charset="-120"/>
              </a:rPr>
              <a:t>Dataset contains ~80 honeypots. Honeypot rate &gt; 10% in top-100 = automatic disqualification.</a:t>
            </a:r>
            <a:endParaRPr lang="en-US" sz="1300" dirty="0"/>
          </a:p>
        </p:txBody>
      </p:sp>
      <p:sp>
        <p:nvSpPr>
          <p:cNvPr id="4" name="Shape 2"/>
          <p:cNvSpPr/>
          <p:nvPr/>
        </p:nvSpPr>
        <p:spPr>
          <a:xfrm>
            <a:off x="365760" y="1170432"/>
            <a:ext cx="2715768" cy="3657600"/>
          </a:xfrm>
          <a:prstGeom prst="roundRect">
            <a:avLst>
              <a:gd name="adj" fmla="val 336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365760" y="1170432"/>
            <a:ext cx="2715768" cy="365760"/>
          </a:xfrm>
          <a:prstGeom prst="roundRect">
            <a:avLst>
              <a:gd name="adj" fmla="val 25000"/>
            </a:avLst>
          </a:prstGeom>
          <a:solidFill>
            <a:srgbClr val="DC2626"/>
          </a:solidFill>
          <a:ln w="12700">
            <a:solidFill>
              <a:srgbClr val="DC2626"/>
            </a:solidFill>
            <a:prstDash val="solid"/>
          </a:ln>
        </p:spPr>
      </p:sp>
      <p:sp>
        <p:nvSpPr>
          <p:cNvPr id="6" name="Text 4"/>
          <p:cNvSpPr/>
          <p:nvPr/>
        </p:nvSpPr>
        <p:spPr>
          <a:xfrm>
            <a:off x="457200" y="1170432"/>
            <a:ext cx="2532888"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Check 1: Impossible Job Duration</a:t>
            </a:r>
            <a:endParaRPr lang="en-US" sz="1050" dirty="0"/>
          </a:p>
        </p:txBody>
      </p:sp>
      <p:sp>
        <p:nvSpPr>
          <p:cNvPr id="7" name="Shape 5"/>
          <p:cNvSpPr/>
          <p:nvPr/>
        </p:nvSpPr>
        <p:spPr>
          <a:xfrm>
            <a:off x="457200" y="1600200"/>
            <a:ext cx="2532888" cy="1188720"/>
          </a:xfrm>
          <a:prstGeom prst="roundRect">
            <a:avLst>
              <a:gd name="adj" fmla="val 6154"/>
            </a:avLst>
          </a:prstGeom>
          <a:solidFill>
            <a:srgbClr val="1E293B"/>
          </a:solidFill>
          <a:ln w="12700">
            <a:solidFill>
              <a:srgbClr val="334155"/>
            </a:solidFill>
            <a:prstDash val="solid"/>
          </a:ln>
        </p:spPr>
      </p:sp>
      <p:sp>
        <p:nvSpPr>
          <p:cNvPr id="8" name="Text 6"/>
          <p:cNvSpPr/>
          <p:nvPr/>
        </p:nvSpPr>
        <p:spPr>
          <a:xfrm>
            <a:off x="502920" y="1627632"/>
            <a:ext cx="2441448" cy="1133856"/>
          </a:xfrm>
          <a:prstGeom prst="rect">
            <a:avLst/>
          </a:prstGeom>
          <a:noFill/>
          <a:ln/>
        </p:spPr>
        <p:txBody>
          <a:bodyPr wrap="square" rtlCol="0" anchor="t"/>
          <a:lstStyle/>
          <a:p>
            <a:pPr indent="0" marL="0">
              <a:buNone/>
            </a:pPr>
            <a:r>
              <a:rPr lang="en-US" sz="900" dirty="0">
                <a:solidFill>
                  <a:srgbClr val="14B8A6"/>
                </a:solidFill>
                <a:latin typeface="Courier New" pitchFamily="34" charset="0"/>
                <a:ea typeface="Courier New" pitchFamily="34" charset="-122"/>
                <a:cs typeface="Courier New" pitchFamily="34" charset="-120"/>
              </a:rPr>
              <a:t>for job in career_history:</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  if job.duration_months &gt; yoe_months + 12:</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      return HONEYPOT</a:t>
            </a:r>
            <a:endParaRPr lang="en-US" sz="900" dirty="0"/>
          </a:p>
        </p:txBody>
      </p:sp>
      <p:sp>
        <p:nvSpPr>
          <p:cNvPr id="9" name="Text 7"/>
          <p:cNvSpPr/>
          <p:nvPr/>
        </p:nvSpPr>
        <p:spPr>
          <a:xfrm>
            <a:off x="475488" y="2852928"/>
            <a:ext cx="2496312" cy="822960"/>
          </a:xfrm>
          <a:prstGeom prst="rect">
            <a:avLst/>
          </a:prstGeom>
          <a:noFill/>
          <a:ln/>
        </p:spPr>
        <p:txBody>
          <a:bodyPr wrap="square"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Example: Candidate has 9.9 years total experience, but one job ran for 166 months (13.8 years)</a:t>
            </a:r>
            <a:endParaRPr lang="en-US" sz="1000" dirty="0"/>
          </a:p>
        </p:txBody>
      </p:sp>
      <p:sp>
        <p:nvSpPr>
          <p:cNvPr id="10" name="Shape 8"/>
          <p:cNvSpPr/>
          <p:nvPr/>
        </p:nvSpPr>
        <p:spPr>
          <a:xfrm>
            <a:off x="457200" y="3730752"/>
            <a:ext cx="2532888" cy="347472"/>
          </a:xfrm>
          <a:prstGeom prst="roundRect">
            <a:avLst>
              <a:gd name="adj" fmla="val 15789"/>
            </a:avLst>
          </a:prstGeom>
          <a:solidFill>
            <a:srgbClr val="FEE2E2"/>
          </a:solidFill>
          <a:ln w="12700">
            <a:solidFill>
              <a:srgbClr val="FECACA"/>
            </a:solidFill>
            <a:prstDash val="solid"/>
          </a:ln>
        </p:spPr>
      </p:sp>
      <p:sp>
        <p:nvSpPr>
          <p:cNvPr id="11" name="Text 9"/>
          <p:cNvSpPr/>
          <p:nvPr/>
        </p:nvSpPr>
        <p:spPr>
          <a:xfrm>
            <a:off x="457200" y="3730752"/>
            <a:ext cx="2532888" cy="347472"/>
          </a:xfrm>
          <a:prstGeom prst="rect">
            <a:avLst/>
          </a:prstGeom>
          <a:noFill/>
          <a:ln/>
        </p:spPr>
        <p:txBody>
          <a:bodyPr wrap="square" rtlCol="0" anchor="ctr"/>
          <a:lstStyle/>
          <a:p>
            <a:pPr algn="ctr" indent="0" marL="0">
              <a:buNone/>
            </a:pPr>
            <a:r>
              <a:rPr lang="en-US" sz="1100" b="1" dirty="0">
                <a:solidFill>
                  <a:srgbClr val="DC2626"/>
                </a:solidFill>
                <a:latin typeface="Calibri" pitchFamily="34" charset="0"/>
                <a:ea typeface="Calibri" pitchFamily="34" charset="-122"/>
                <a:cs typeface="Calibri" pitchFamily="34" charset="-120"/>
              </a:rPr>
              <a:t>42 detected</a:t>
            </a:r>
            <a:endParaRPr lang="en-US" sz="1100" dirty="0"/>
          </a:p>
        </p:txBody>
      </p:sp>
      <p:sp>
        <p:nvSpPr>
          <p:cNvPr id="12" name="Shape 10"/>
          <p:cNvSpPr/>
          <p:nvPr/>
        </p:nvSpPr>
        <p:spPr>
          <a:xfrm>
            <a:off x="3218688" y="1170432"/>
            <a:ext cx="2715768" cy="3657600"/>
          </a:xfrm>
          <a:prstGeom prst="roundRect">
            <a:avLst>
              <a:gd name="adj" fmla="val 336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3218688" y="1170432"/>
            <a:ext cx="2715768" cy="365760"/>
          </a:xfrm>
          <a:prstGeom prst="roundRect">
            <a:avLst>
              <a:gd name="adj" fmla="val 25000"/>
            </a:avLst>
          </a:prstGeom>
          <a:solidFill>
            <a:srgbClr val="DC2626"/>
          </a:solidFill>
          <a:ln w="12700">
            <a:solidFill>
              <a:srgbClr val="DC2626"/>
            </a:solidFill>
            <a:prstDash val="solid"/>
          </a:ln>
        </p:spPr>
      </p:sp>
      <p:sp>
        <p:nvSpPr>
          <p:cNvPr id="14" name="Text 12"/>
          <p:cNvSpPr/>
          <p:nvPr/>
        </p:nvSpPr>
        <p:spPr>
          <a:xfrm>
            <a:off x="3310128" y="1170432"/>
            <a:ext cx="2532888"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Check 2: Expert Skills, 0 Months</a:t>
            </a:r>
            <a:endParaRPr lang="en-US" sz="1050" dirty="0"/>
          </a:p>
        </p:txBody>
      </p:sp>
      <p:sp>
        <p:nvSpPr>
          <p:cNvPr id="15" name="Shape 13"/>
          <p:cNvSpPr/>
          <p:nvPr/>
        </p:nvSpPr>
        <p:spPr>
          <a:xfrm>
            <a:off x="3310128" y="1600200"/>
            <a:ext cx="2532888" cy="1188720"/>
          </a:xfrm>
          <a:prstGeom prst="roundRect">
            <a:avLst>
              <a:gd name="adj" fmla="val 6154"/>
            </a:avLst>
          </a:prstGeom>
          <a:solidFill>
            <a:srgbClr val="1E293B"/>
          </a:solidFill>
          <a:ln w="12700">
            <a:solidFill>
              <a:srgbClr val="334155"/>
            </a:solidFill>
            <a:prstDash val="solid"/>
          </a:ln>
        </p:spPr>
      </p:sp>
      <p:sp>
        <p:nvSpPr>
          <p:cNvPr id="16" name="Text 14"/>
          <p:cNvSpPr/>
          <p:nvPr/>
        </p:nvSpPr>
        <p:spPr>
          <a:xfrm>
            <a:off x="3355848" y="1627632"/>
            <a:ext cx="2441448" cy="1133856"/>
          </a:xfrm>
          <a:prstGeom prst="rect">
            <a:avLst/>
          </a:prstGeom>
          <a:noFill/>
          <a:ln/>
        </p:spPr>
        <p:txBody>
          <a:bodyPr wrap="square" rtlCol="0" anchor="t"/>
          <a:lstStyle/>
          <a:p>
            <a:pPr indent="0" marL="0">
              <a:buNone/>
            </a:pPr>
            <a:r>
              <a:rPr lang="en-US" sz="900" dirty="0">
                <a:solidFill>
                  <a:srgbClr val="14B8A6"/>
                </a:solidFill>
                <a:latin typeface="Courier New" pitchFamily="34" charset="0"/>
                <a:ea typeface="Courier New" pitchFamily="34" charset="-122"/>
                <a:cs typeface="Courier New" pitchFamily="34" charset="-120"/>
              </a:rPr>
              <a:t>expert_zero = count(</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  skills where proficiency=="expert"</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  AND duration_months == 0</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if expert_zero &gt;= 3: HONEYPOT</a:t>
            </a:r>
            <a:endParaRPr lang="en-US" sz="900" dirty="0"/>
          </a:p>
        </p:txBody>
      </p:sp>
      <p:sp>
        <p:nvSpPr>
          <p:cNvPr id="17" name="Text 15"/>
          <p:cNvSpPr/>
          <p:nvPr/>
        </p:nvSpPr>
        <p:spPr>
          <a:xfrm>
            <a:off x="3328416" y="2852928"/>
            <a:ext cx="2496312" cy="822960"/>
          </a:xfrm>
          <a:prstGeom prst="rect">
            <a:avLst/>
          </a:prstGeom>
          <a:noFill/>
          <a:ln/>
        </p:spPr>
        <p:txBody>
          <a:bodyPr wrap="square"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Example: 5 'expert' skills all listed with 0 months of usage — implies the candidate just keyword-stuffed</a:t>
            </a:r>
            <a:endParaRPr lang="en-US" sz="1000" dirty="0"/>
          </a:p>
        </p:txBody>
      </p:sp>
      <p:sp>
        <p:nvSpPr>
          <p:cNvPr id="18" name="Shape 16"/>
          <p:cNvSpPr/>
          <p:nvPr/>
        </p:nvSpPr>
        <p:spPr>
          <a:xfrm>
            <a:off x="3310128" y="3730752"/>
            <a:ext cx="2532888" cy="347472"/>
          </a:xfrm>
          <a:prstGeom prst="roundRect">
            <a:avLst>
              <a:gd name="adj" fmla="val 15789"/>
            </a:avLst>
          </a:prstGeom>
          <a:solidFill>
            <a:srgbClr val="FEE2E2"/>
          </a:solidFill>
          <a:ln w="12700">
            <a:solidFill>
              <a:srgbClr val="FECACA"/>
            </a:solidFill>
            <a:prstDash val="solid"/>
          </a:ln>
        </p:spPr>
      </p:sp>
      <p:sp>
        <p:nvSpPr>
          <p:cNvPr id="19" name="Text 17"/>
          <p:cNvSpPr/>
          <p:nvPr/>
        </p:nvSpPr>
        <p:spPr>
          <a:xfrm>
            <a:off x="3310128" y="3730752"/>
            <a:ext cx="2532888" cy="347472"/>
          </a:xfrm>
          <a:prstGeom prst="rect">
            <a:avLst/>
          </a:prstGeom>
          <a:noFill/>
          <a:ln/>
        </p:spPr>
        <p:txBody>
          <a:bodyPr wrap="square" rtlCol="0" anchor="ctr"/>
          <a:lstStyle/>
          <a:p>
            <a:pPr algn="ctr" indent="0" marL="0">
              <a:buNone/>
            </a:pPr>
            <a:r>
              <a:rPr lang="en-US" sz="1100" b="1" dirty="0">
                <a:solidFill>
                  <a:srgbClr val="DC2626"/>
                </a:solidFill>
                <a:latin typeface="Calibri" pitchFamily="34" charset="0"/>
                <a:ea typeface="Calibri" pitchFamily="34" charset="-122"/>
                <a:cs typeface="Calibri" pitchFamily="34" charset="-120"/>
              </a:rPr>
              <a:t>Several overlap</a:t>
            </a:r>
            <a:endParaRPr lang="en-US" sz="1100" dirty="0"/>
          </a:p>
        </p:txBody>
      </p:sp>
      <p:sp>
        <p:nvSpPr>
          <p:cNvPr id="20" name="Shape 18"/>
          <p:cNvSpPr/>
          <p:nvPr/>
        </p:nvSpPr>
        <p:spPr>
          <a:xfrm>
            <a:off x="6071616" y="1170432"/>
            <a:ext cx="2715768" cy="3657600"/>
          </a:xfrm>
          <a:prstGeom prst="roundRect">
            <a:avLst>
              <a:gd name="adj" fmla="val 336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6071616" y="1170432"/>
            <a:ext cx="2715768" cy="365760"/>
          </a:xfrm>
          <a:prstGeom prst="roundRect">
            <a:avLst>
              <a:gd name="adj" fmla="val 25000"/>
            </a:avLst>
          </a:prstGeom>
          <a:solidFill>
            <a:srgbClr val="DC2626"/>
          </a:solidFill>
          <a:ln w="12700">
            <a:solidFill>
              <a:srgbClr val="DC2626"/>
            </a:solidFill>
            <a:prstDash val="solid"/>
          </a:ln>
        </p:spPr>
      </p:sp>
      <p:sp>
        <p:nvSpPr>
          <p:cNvPr id="22" name="Text 20"/>
          <p:cNvSpPr/>
          <p:nvPr/>
        </p:nvSpPr>
        <p:spPr>
          <a:xfrm>
            <a:off x="6163056" y="1170432"/>
            <a:ext cx="2532888"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Check 3: Inflated Career Timeline</a:t>
            </a:r>
            <a:endParaRPr lang="en-US" sz="1050" dirty="0"/>
          </a:p>
        </p:txBody>
      </p:sp>
      <p:sp>
        <p:nvSpPr>
          <p:cNvPr id="23" name="Shape 21"/>
          <p:cNvSpPr/>
          <p:nvPr/>
        </p:nvSpPr>
        <p:spPr>
          <a:xfrm>
            <a:off x="6163056" y="1600200"/>
            <a:ext cx="2532888" cy="1188720"/>
          </a:xfrm>
          <a:prstGeom prst="roundRect">
            <a:avLst>
              <a:gd name="adj" fmla="val 6154"/>
            </a:avLst>
          </a:prstGeom>
          <a:solidFill>
            <a:srgbClr val="1E293B"/>
          </a:solidFill>
          <a:ln w="12700">
            <a:solidFill>
              <a:srgbClr val="334155"/>
            </a:solidFill>
            <a:prstDash val="solid"/>
          </a:ln>
        </p:spPr>
      </p:sp>
      <p:sp>
        <p:nvSpPr>
          <p:cNvPr id="24" name="Text 22"/>
          <p:cNvSpPr/>
          <p:nvPr/>
        </p:nvSpPr>
        <p:spPr>
          <a:xfrm>
            <a:off x="6208776" y="1627632"/>
            <a:ext cx="2441448" cy="1133856"/>
          </a:xfrm>
          <a:prstGeom prst="rect">
            <a:avLst/>
          </a:prstGeom>
          <a:noFill/>
          <a:ln/>
        </p:spPr>
        <p:txBody>
          <a:bodyPr wrap="square" rtlCol="0" anchor="t"/>
          <a:lstStyle/>
          <a:p>
            <a:pPr indent="0" marL="0">
              <a:buNone/>
            </a:pPr>
            <a:r>
              <a:rPr lang="en-US" sz="900" dirty="0">
                <a:solidFill>
                  <a:srgbClr val="14B8A6"/>
                </a:solidFill>
                <a:latin typeface="Courier New" pitchFamily="34" charset="0"/>
                <a:ea typeface="Courier New" pitchFamily="34" charset="-122"/>
                <a:cs typeface="Courier New" pitchFamily="34" charset="-120"/>
              </a:rPr>
              <a:t>total_job_months = sum(</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  job.duration_months</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if total &gt; yoe_months * 1.5 + 24:</a:t>
            </a:r>
            <a:endParaRPr lang="en-US" sz="900" dirty="0"/>
          </a:p>
          <a:p>
            <a:pPr indent="0" marL="0">
              <a:buNone/>
            </a:pPr>
            <a:r>
              <a:rPr lang="en-US" sz="900" dirty="0">
                <a:solidFill>
                  <a:srgbClr val="14B8A6"/>
                </a:solidFill>
                <a:latin typeface="Courier New" pitchFamily="34" charset="0"/>
                <a:ea typeface="Courier New" pitchFamily="34" charset="-122"/>
                <a:cs typeface="Courier New" pitchFamily="34" charset="-120"/>
              </a:rPr>
              <a:t>    return HONEYPOT</a:t>
            </a:r>
            <a:endParaRPr lang="en-US" sz="900" dirty="0"/>
          </a:p>
        </p:txBody>
      </p:sp>
      <p:sp>
        <p:nvSpPr>
          <p:cNvPr id="25" name="Text 23"/>
          <p:cNvSpPr/>
          <p:nvPr/>
        </p:nvSpPr>
        <p:spPr>
          <a:xfrm>
            <a:off x="6181344" y="2852928"/>
            <a:ext cx="2496312" cy="822960"/>
          </a:xfrm>
          <a:prstGeom prst="rect">
            <a:avLst/>
          </a:prstGeom>
          <a:noFill/>
          <a:ln/>
        </p:spPr>
        <p:txBody>
          <a:bodyPr wrap="square"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Example: Only 5 years experience but career history sums to 11+ years of job durations (impossible without parallel time)</a:t>
            </a:r>
            <a:endParaRPr lang="en-US" sz="1000" dirty="0"/>
          </a:p>
        </p:txBody>
      </p:sp>
      <p:sp>
        <p:nvSpPr>
          <p:cNvPr id="26" name="Shape 24"/>
          <p:cNvSpPr/>
          <p:nvPr/>
        </p:nvSpPr>
        <p:spPr>
          <a:xfrm>
            <a:off x="6163056" y="3730752"/>
            <a:ext cx="2532888" cy="347472"/>
          </a:xfrm>
          <a:prstGeom prst="roundRect">
            <a:avLst>
              <a:gd name="adj" fmla="val 15789"/>
            </a:avLst>
          </a:prstGeom>
          <a:solidFill>
            <a:srgbClr val="FEE2E2"/>
          </a:solidFill>
          <a:ln w="12700">
            <a:solidFill>
              <a:srgbClr val="FECACA"/>
            </a:solidFill>
            <a:prstDash val="solid"/>
          </a:ln>
        </p:spPr>
      </p:sp>
      <p:sp>
        <p:nvSpPr>
          <p:cNvPr id="27" name="Text 25"/>
          <p:cNvSpPr/>
          <p:nvPr/>
        </p:nvSpPr>
        <p:spPr>
          <a:xfrm>
            <a:off x="6163056" y="3730752"/>
            <a:ext cx="2532888" cy="347472"/>
          </a:xfrm>
          <a:prstGeom prst="rect">
            <a:avLst/>
          </a:prstGeom>
          <a:noFill/>
          <a:ln/>
        </p:spPr>
        <p:txBody>
          <a:bodyPr wrap="square" rtlCol="0" anchor="ctr"/>
          <a:lstStyle/>
          <a:p>
            <a:pPr algn="ctr" indent="0" marL="0">
              <a:buNone/>
            </a:pPr>
            <a:r>
              <a:rPr lang="en-US" sz="1100" b="1" dirty="0">
                <a:solidFill>
                  <a:srgbClr val="DC2626"/>
                </a:solidFill>
                <a:latin typeface="Calibri" pitchFamily="34" charset="0"/>
                <a:ea typeface="Calibri" pitchFamily="34" charset="-122"/>
                <a:cs typeface="Calibri" pitchFamily="34" charset="-120"/>
              </a:rPr>
              <a:t>Catches edge cases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Results — Top Candidates &amp; Score Distribution</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1920240"/>
        </p:xfrm>
        <a:graphic>
          <a:graphicData uri="http://schemas.openxmlformats.org/drawingml/2006/table">
            <a:tbl>
              <a:tblPr/>
              <a:tblGrid>
                <a:gridCol w="365760"/>
                <a:gridCol w="1371600"/>
                <a:gridCol w="2011680"/>
                <a:gridCol w="640080"/>
                <a:gridCol w="402336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Candidate ID</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Title &amp; YOE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Score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They Rank Here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r>
              <a:tr h="32004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CAND_0002025</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Senior AI Engineer, 5.9y</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0.999</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Strong AI title; FAISS, OpenSearch, Weaviate; GitHub 97; response 80%</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CAND_0011687</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Senior NLP Engineer, 7.8y</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0.999</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OpenSearch, FAISS, Weaviate; ideal YOE; response 89%; GitHub 76</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CAND_0018499</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Sr ML Engineer, 7.2y, Noida</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0.999</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Noida (preferred city); Weaviate, Pinecone, IR, Milvus; GitHub 95</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CAND_0036184</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Rec Systems Engineer, 6.0y</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0.999</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FAISS, HF Transformers, Vector Search, Pinecone; response 90%</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CAND_0042506</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Search Engineer, 4.2y, Mumbai</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0.999</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Semantic Search, Fine-tuning, IR, Milvus, Qdrant; GitHub 64</a:t>
                      </a:r>
                      <a:endParaRPr lang="en-US" sz="10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365760" y="2834640"/>
          <a:ext cx="5029200" cy="20574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669280" y="2834640"/>
            <a:ext cx="141732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Text 2"/>
          <p:cNvSpPr/>
          <p:nvPr/>
        </p:nvSpPr>
        <p:spPr>
          <a:xfrm>
            <a:off x="5669280" y="2880360"/>
            <a:ext cx="1417320" cy="457200"/>
          </a:xfrm>
          <a:prstGeom prst="rect">
            <a:avLst/>
          </a:prstGeom>
          <a:noFill/>
          <a:ln/>
        </p:spPr>
        <p:txBody>
          <a:bodyPr wrap="square" rtlCol="0" anchor="ctr"/>
          <a:lstStyle/>
          <a:p>
            <a:pPr algn="ctr" indent="0" marL="0">
              <a:buNone/>
            </a:pPr>
            <a:r>
              <a:rPr lang="en-US" sz="2600" b="1" dirty="0">
                <a:solidFill>
                  <a:srgbClr val="0D9488"/>
                </a:solidFill>
                <a:latin typeface="Calibri" pitchFamily="34" charset="0"/>
                <a:ea typeface="Calibri" pitchFamily="34" charset="-122"/>
                <a:cs typeface="Calibri" pitchFamily="34" charset="-120"/>
              </a:rPr>
              <a:t>9</a:t>
            </a:r>
            <a:endParaRPr lang="en-US" sz="2600" dirty="0"/>
          </a:p>
        </p:txBody>
      </p:sp>
      <p:sp>
        <p:nvSpPr>
          <p:cNvPr id="7" name="Text 3"/>
          <p:cNvSpPr/>
          <p:nvPr/>
        </p:nvSpPr>
        <p:spPr>
          <a:xfrm>
            <a:off x="5669280" y="3337560"/>
            <a:ext cx="1417320" cy="29260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with score ≥ 0.99</a:t>
            </a:r>
            <a:endParaRPr lang="en-US" sz="900" dirty="0"/>
          </a:p>
        </p:txBody>
      </p:sp>
      <p:sp>
        <p:nvSpPr>
          <p:cNvPr id="8" name="Shape 4"/>
          <p:cNvSpPr/>
          <p:nvPr/>
        </p:nvSpPr>
        <p:spPr>
          <a:xfrm>
            <a:off x="7223760" y="2834640"/>
            <a:ext cx="141732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Text 5"/>
          <p:cNvSpPr/>
          <p:nvPr/>
        </p:nvSpPr>
        <p:spPr>
          <a:xfrm>
            <a:off x="7223760" y="2880360"/>
            <a:ext cx="1417320" cy="457200"/>
          </a:xfrm>
          <a:prstGeom prst="rect">
            <a:avLst/>
          </a:prstGeom>
          <a:noFill/>
          <a:ln/>
        </p:spPr>
        <p:txBody>
          <a:bodyPr wrap="square" rtlCol="0" anchor="ctr"/>
          <a:lstStyle/>
          <a:p>
            <a:pPr algn="ctr" indent="0" marL="0">
              <a:buNone/>
            </a:pPr>
            <a:r>
              <a:rPr lang="en-US" sz="2600" b="1" dirty="0">
                <a:solidFill>
                  <a:srgbClr val="DC2626"/>
                </a:solidFill>
                <a:latin typeface="Calibri" pitchFamily="34" charset="0"/>
                <a:ea typeface="Calibri" pitchFamily="34" charset="-122"/>
                <a:cs typeface="Calibri" pitchFamily="34" charset="-120"/>
              </a:rPr>
              <a:t>42</a:t>
            </a:r>
            <a:endParaRPr lang="en-US" sz="2600" dirty="0"/>
          </a:p>
        </p:txBody>
      </p:sp>
      <p:sp>
        <p:nvSpPr>
          <p:cNvPr id="10" name="Text 6"/>
          <p:cNvSpPr/>
          <p:nvPr/>
        </p:nvSpPr>
        <p:spPr>
          <a:xfrm>
            <a:off x="7223760" y="3337560"/>
            <a:ext cx="1417320" cy="29260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honeypots blocked</a:t>
            </a:r>
            <a:endParaRPr lang="en-US" sz="900" dirty="0"/>
          </a:p>
        </p:txBody>
      </p:sp>
      <p:sp>
        <p:nvSpPr>
          <p:cNvPr id="11" name="Shape 7"/>
          <p:cNvSpPr/>
          <p:nvPr/>
        </p:nvSpPr>
        <p:spPr>
          <a:xfrm>
            <a:off x="5669280" y="3886200"/>
            <a:ext cx="141732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Text 8"/>
          <p:cNvSpPr/>
          <p:nvPr/>
        </p:nvSpPr>
        <p:spPr>
          <a:xfrm>
            <a:off x="5669280" y="3931920"/>
            <a:ext cx="1417320" cy="457200"/>
          </a:xfrm>
          <a:prstGeom prst="rect">
            <a:avLst/>
          </a:prstGeom>
          <a:noFill/>
          <a:ln/>
        </p:spPr>
        <p:txBody>
          <a:bodyPr wrap="square" rtlCol="0" anchor="ctr"/>
          <a:lstStyle/>
          <a:p>
            <a:pPr algn="ctr" indent="0" marL="0">
              <a:buNone/>
            </a:pPr>
            <a:r>
              <a:rPr lang="en-US" sz="2600" b="1" dirty="0">
                <a:solidFill>
                  <a:srgbClr val="F59E0B"/>
                </a:solidFill>
                <a:latin typeface="Calibri" pitchFamily="34" charset="0"/>
                <a:ea typeface="Calibri" pitchFamily="34" charset="-122"/>
                <a:cs typeface="Calibri" pitchFamily="34" charset="-120"/>
              </a:rPr>
              <a:t>15s</a:t>
            </a:r>
            <a:endParaRPr lang="en-US" sz="2600" dirty="0"/>
          </a:p>
        </p:txBody>
      </p:sp>
      <p:sp>
        <p:nvSpPr>
          <p:cNvPr id="13" name="Text 9"/>
          <p:cNvSpPr/>
          <p:nvPr/>
        </p:nvSpPr>
        <p:spPr>
          <a:xfrm>
            <a:off x="5669280" y="4389120"/>
            <a:ext cx="1417320" cy="29260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CPU runtime for 100K</a:t>
            </a:r>
            <a:endParaRPr lang="en-US" sz="900" dirty="0"/>
          </a:p>
        </p:txBody>
      </p:sp>
      <p:sp>
        <p:nvSpPr>
          <p:cNvPr id="14" name="Shape 10"/>
          <p:cNvSpPr/>
          <p:nvPr/>
        </p:nvSpPr>
        <p:spPr>
          <a:xfrm>
            <a:off x="7223760" y="3886200"/>
            <a:ext cx="1417320" cy="868680"/>
          </a:xfrm>
          <a:prstGeom prst="roundRect">
            <a:avLst>
              <a:gd name="adj" fmla="val 1052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Text 11"/>
          <p:cNvSpPr/>
          <p:nvPr/>
        </p:nvSpPr>
        <p:spPr>
          <a:xfrm>
            <a:off x="7223760" y="3931920"/>
            <a:ext cx="1417320" cy="457200"/>
          </a:xfrm>
          <a:prstGeom prst="rect">
            <a:avLst/>
          </a:prstGeom>
          <a:noFill/>
          <a:ln/>
        </p:spPr>
        <p:txBody>
          <a:bodyPr wrap="square" rtlCol="0" anchor="ctr"/>
          <a:lstStyle/>
          <a:p>
            <a:pPr algn="ctr" indent="0" marL="0">
              <a:buNone/>
            </a:pPr>
            <a:r>
              <a:rPr lang="en-US" sz="2600" b="1" dirty="0">
                <a:solidFill>
                  <a:srgbClr val="7C3AED"/>
                </a:solidFill>
                <a:latin typeface="Calibri" pitchFamily="34" charset="0"/>
                <a:ea typeface="Calibri" pitchFamily="34" charset="-122"/>
                <a:cs typeface="Calibri" pitchFamily="34" charset="-120"/>
              </a:rPr>
              <a:t>0</a:t>
            </a:r>
            <a:endParaRPr lang="en-US" sz="2600" dirty="0"/>
          </a:p>
        </p:txBody>
      </p:sp>
      <p:sp>
        <p:nvSpPr>
          <p:cNvPr id="16" name="Text 12"/>
          <p:cNvSpPr/>
          <p:nvPr/>
        </p:nvSpPr>
        <p:spPr>
          <a:xfrm>
            <a:off x="7223760" y="4389120"/>
            <a:ext cx="1417320" cy="292608"/>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API calls made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412480" cy="475488"/>
          </a:xfrm>
          <a:prstGeom prst="rect">
            <a:avLst/>
          </a:prstGeom>
          <a:noFill/>
          <a:ln/>
        </p:spPr>
        <p:txBody>
          <a:bodyPr wrap="square"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Design Choice: Why Rule-Based Over Embeddings/LLM?</a:t>
            </a:r>
            <a:endParaRPr lang="en-US" sz="2400" dirty="0"/>
          </a:p>
        </p:txBody>
      </p:sp>
      <p:sp>
        <p:nvSpPr>
          <p:cNvPr id="3" name="Shape 1"/>
          <p:cNvSpPr/>
          <p:nvPr/>
        </p:nvSpPr>
        <p:spPr>
          <a:xfrm>
            <a:off x="365760" y="868680"/>
            <a:ext cx="2715768" cy="4023360"/>
          </a:xfrm>
          <a:prstGeom prst="roundRect">
            <a:avLst>
              <a:gd name="adj" fmla="val 336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4" name="Shape 2"/>
          <p:cNvSpPr/>
          <p:nvPr/>
        </p:nvSpPr>
        <p:spPr>
          <a:xfrm>
            <a:off x="365760" y="868680"/>
            <a:ext cx="2715768" cy="384048"/>
          </a:xfrm>
          <a:prstGeom prst="roundRect">
            <a:avLst>
              <a:gd name="adj" fmla="val 23810"/>
            </a:avLst>
          </a:prstGeom>
          <a:solidFill>
            <a:srgbClr val="7C3AED"/>
          </a:solidFill>
          <a:ln w="12700">
            <a:solidFill>
              <a:srgbClr val="7C3AED"/>
            </a:solidFill>
            <a:prstDash val="solid"/>
          </a:ln>
        </p:spPr>
      </p:sp>
      <p:sp>
        <p:nvSpPr>
          <p:cNvPr id="5" name="Text 3"/>
          <p:cNvSpPr/>
          <p:nvPr/>
        </p:nvSpPr>
        <p:spPr>
          <a:xfrm>
            <a:off x="457200" y="868680"/>
            <a:ext cx="2532888" cy="38404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Embeddings / Vector Similarity</a:t>
            </a:r>
            <a:endParaRPr lang="en-US" sz="1050" dirty="0"/>
          </a:p>
        </p:txBody>
      </p:sp>
      <p:sp>
        <p:nvSpPr>
          <p:cNvPr id="6" name="Text 4"/>
          <p:cNvSpPr/>
          <p:nvPr/>
        </p:nvSpPr>
        <p:spPr>
          <a:xfrm>
            <a:off x="457200" y="1325880"/>
            <a:ext cx="2532888" cy="274320"/>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 Pros:</a:t>
            </a:r>
            <a:endParaRPr lang="en-US" sz="1100" dirty="0"/>
          </a:p>
        </p:txBody>
      </p:sp>
      <p:sp>
        <p:nvSpPr>
          <p:cNvPr id="7" name="Text 5"/>
          <p:cNvSpPr/>
          <p:nvPr/>
        </p:nvSpPr>
        <p:spPr>
          <a:xfrm>
            <a:off x="457200" y="1600200"/>
            <a:ext cx="2532888" cy="73152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Captures semantic meaning beyond keywords</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Finds non-obvious skill analogies</a:t>
            </a:r>
            <a:endParaRPr lang="en-US" sz="1000" dirty="0"/>
          </a:p>
        </p:txBody>
      </p:sp>
      <p:sp>
        <p:nvSpPr>
          <p:cNvPr id="8" name="Text 6"/>
          <p:cNvSpPr/>
          <p:nvPr/>
        </p:nvSpPr>
        <p:spPr>
          <a:xfrm>
            <a:off x="457200" y="2395728"/>
            <a:ext cx="2532888"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 Trade-offs:</a:t>
            </a:r>
            <a:endParaRPr lang="en-US" sz="1100" dirty="0"/>
          </a:p>
        </p:txBody>
      </p:sp>
      <p:sp>
        <p:nvSpPr>
          <p:cNvPr id="9" name="Text 7"/>
          <p:cNvSpPr/>
          <p:nvPr/>
        </p:nvSpPr>
        <p:spPr>
          <a:xfrm>
            <a:off x="457200" y="2697480"/>
            <a:ext cx="2532888" cy="210312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Cannot be called via API during ranking (submission spec prohibits network)</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GPU not available — local embedding models slow on CPU for 100K candidates</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Embedding drift: 'HR Manager who read about RAG' ≈ 'ML Engineer who built RAG' in embedding space</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Black-box: fails Stage 4 reasoning evaluation</a:t>
            </a:r>
            <a:endParaRPr lang="en-US" sz="1000" dirty="0"/>
          </a:p>
        </p:txBody>
      </p:sp>
      <p:sp>
        <p:nvSpPr>
          <p:cNvPr id="10" name="Shape 8"/>
          <p:cNvSpPr/>
          <p:nvPr/>
        </p:nvSpPr>
        <p:spPr>
          <a:xfrm>
            <a:off x="3218688" y="868680"/>
            <a:ext cx="2715768" cy="4023360"/>
          </a:xfrm>
          <a:prstGeom prst="roundRect">
            <a:avLst>
              <a:gd name="adj" fmla="val 336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3218688" y="868680"/>
            <a:ext cx="2715768" cy="384048"/>
          </a:xfrm>
          <a:prstGeom prst="roundRect">
            <a:avLst>
              <a:gd name="adj" fmla="val 23810"/>
            </a:avLst>
          </a:prstGeom>
          <a:solidFill>
            <a:srgbClr val="F59E0B"/>
          </a:solidFill>
          <a:ln w="12700">
            <a:solidFill>
              <a:srgbClr val="F59E0B"/>
            </a:solidFill>
            <a:prstDash val="solid"/>
          </a:ln>
        </p:spPr>
      </p:sp>
      <p:sp>
        <p:nvSpPr>
          <p:cNvPr id="12" name="Text 10"/>
          <p:cNvSpPr/>
          <p:nvPr/>
        </p:nvSpPr>
        <p:spPr>
          <a:xfrm>
            <a:off x="3310128" y="868680"/>
            <a:ext cx="2532888" cy="38404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LLM Per-Candidate Scoring</a:t>
            </a:r>
            <a:endParaRPr lang="en-US" sz="1050" dirty="0"/>
          </a:p>
        </p:txBody>
      </p:sp>
      <p:sp>
        <p:nvSpPr>
          <p:cNvPr id="13" name="Text 11"/>
          <p:cNvSpPr/>
          <p:nvPr/>
        </p:nvSpPr>
        <p:spPr>
          <a:xfrm>
            <a:off x="3310128" y="1325880"/>
            <a:ext cx="2532888" cy="274320"/>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 Pros:</a:t>
            </a:r>
            <a:endParaRPr lang="en-US" sz="1100" dirty="0"/>
          </a:p>
        </p:txBody>
      </p:sp>
      <p:sp>
        <p:nvSpPr>
          <p:cNvPr id="14" name="Text 12"/>
          <p:cNvSpPr/>
          <p:nvPr/>
        </p:nvSpPr>
        <p:spPr>
          <a:xfrm>
            <a:off x="3310128" y="1600200"/>
            <a:ext cx="2532888" cy="73152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Human-quality reasoning about fit</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Understands JD nuance</a:t>
            </a:r>
            <a:endParaRPr lang="en-US" sz="1000" dirty="0"/>
          </a:p>
        </p:txBody>
      </p:sp>
      <p:sp>
        <p:nvSpPr>
          <p:cNvPr id="15" name="Text 13"/>
          <p:cNvSpPr/>
          <p:nvPr/>
        </p:nvSpPr>
        <p:spPr>
          <a:xfrm>
            <a:off x="3310128" y="2395728"/>
            <a:ext cx="2532888"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 Trade-offs:</a:t>
            </a:r>
            <a:endParaRPr lang="en-US" sz="1100" dirty="0"/>
          </a:p>
        </p:txBody>
      </p:sp>
      <p:sp>
        <p:nvSpPr>
          <p:cNvPr id="16" name="Text 14"/>
          <p:cNvSpPr/>
          <p:nvPr/>
        </p:nvSpPr>
        <p:spPr>
          <a:xfrm>
            <a:off x="3310128" y="2697480"/>
            <a:ext cx="2532888" cy="210312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Explicitly prohibited (no API calls during ranking step)</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100K × 1 LLM call = days of compute, or massive cost</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Non-deterministic scoring makes reproduction impossible</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Would fail compute reproduction at Stage 3</a:t>
            </a:r>
            <a:endParaRPr lang="en-US" sz="1000" dirty="0"/>
          </a:p>
        </p:txBody>
      </p:sp>
      <p:sp>
        <p:nvSpPr>
          <p:cNvPr id="17" name="Shape 15"/>
          <p:cNvSpPr/>
          <p:nvPr/>
        </p:nvSpPr>
        <p:spPr>
          <a:xfrm>
            <a:off x="6071616" y="868680"/>
            <a:ext cx="2715768" cy="4023360"/>
          </a:xfrm>
          <a:prstGeom prst="roundRect">
            <a:avLst>
              <a:gd name="adj" fmla="val 3367"/>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6071616" y="868680"/>
            <a:ext cx="2715768" cy="384048"/>
          </a:xfrm>
          <a:prstGeom prst="roundRect">
            <a:avLst>
              <a:gd name="adj" fmla="val 23810"/>
            </a:avLst>
          </a:prstGeom>
          <a:solidFill>
            <a:srgbClr val="0D9488"/>
          </a:solidFill>
          <a:ln w="12700">
            <a:solidFill>
              <a:srgbClr val="0D9488"/>
            </a:solidFill>
            <a:prstDash val="solid"/>
          </a:ln>
        </p:spPr>
      </p:sp>
      <p:sp>
        <p:nvSpPr>
          <p:cNvPr id="19" name="Text 17"/>
          <p:cNvSpPr/>
          <p:nvPr/>
        </p:nvSpPr>
        <p:spPr>
          <a:xfrm>
            <a:off x="6163056" y="868680"/>
            <a:ext cx="2532888" cy="38404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Our Rule-Based Hybrid Scorer</a:t>
            </a:r>
            <a:endParaRPr lang="en-US" sz="1050" dirty="0"/>
          </a:p>
        </p:txBody>
      </p:sp>
      <p:sp>
        <p:nvSpPr>
          <p:cNvPr id="20" name="Text 18"/>
          <p:cNvSpPr/>
          <p:nvPr/>
        </p:nvSpPr>
        <p:spPr>
          <a:xfrm>
            <a:off x="6163056" y="1325880"/>
            <a:ext cx="2532888" cy="274320"/>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 Pros:</a:t>
            </a:r>
            <a:endParaRPr lang="en-US" sz="1100" dirty="0"/>
          </a:p>
        </p:txBody>
      </p:sp>
      <p:sp>
        <p:nvSpPr>
          <p:cNvPr id="21" name="Text 19"/>
          <p:cNvSpPr/>
          <p:nvPr/>
        </p:nvSpPr>
        <p:spPr>
          <a:xfrm>
            <a:off x="6163056" y="1600200"/>
            <a:ext cx="2532888" cy="73152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15-second runtime on CPU for 100K candidates</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Every decision is fully traceable and explainable</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Reasoning column reflects actual scoring logic — passes Stage 4</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JD's explicit rules encoded directly: consulting penalty, notice penalty, behavioral weighting</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Honeypot detection catches impossible profiles systematically</a:t>
            </a:r>
            <a:endParaRPr lang="en-US" sz="1000" dirty="0"/>
          </a:p>
        </p:txBody>
      </p:sp>
      <p:sp>
        <p:nvSpPr>
          <p:cNvPr id="22" name="Text 20"/>
          <p:cNvSpPr/>
          <p:nvPr/>
        </p:nvSpPr>
        <p:spPr>
          <a:xfrm>
            <a:off x="6163056" y="2395728"/>
            <a:ext cx="2532888"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 Trade-offs:</a:t>
            </a:r>
            <a:endParaRPr lang="en-US" sz="1100" dirty="0"/>
          </a:p>
        </p:txBody>
      </p:sp>
      <p:sp>
        <p:nvSpPr>
          <p:cNvPr id="23" name="Text 21"/>
          <p:cNvSpPr/>
          <p:nvPr/>
        </p:nvSpPr>
        <p:spPr>
          <a:xfrm>
            <a:off x="6163056" y="2697480"/>
            <a:ext cx="2532888" cy="210312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Misses some semantic nuance (e.g., 'built a recommendation engine' ≠ vector search keyword)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Summary</a:t>
            </a:r>
            <a:endParaRPr lang="en-US" sz="3200" dirty="0"/>
          </a:p>
        </p:txBody>
      </p:sp>
      <p:sp>
        <p:nvSpPr>
          <p:cNvPr id="3" name="Shape 1"/>
          <p:cNvSpPr/>
          <p:nvPr/>
        </p:nvSpPr>
        <p:spPr>
          <a:xfrm>
            <a:off x="365760" y="914400"/>
            <a:ext cx="2651760" cy="1417320"/>
          </a:xfrm>
          <a:prstGeom prst="roundRect">
            <a:avLst>
              <a:gd name="adj" fmla="val 6452"/>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4" name="Text 2"/>
          <p:cNvSpPr/>
          <p:nvPr/>
        </p:nvSpPr>
        <p:spPr>
          <a:xfrm>
            <a:off x="475488" y="1005840"/>
            <a:ext cx="2432304" cy="347472"/>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Career-first scoring</a:t>
            </a:r>
            <a:endParaRPr lang="en-US" sz="1200" dirty="0"/>
          </a:p>
        </p:txBody>
      </p:sp>
      <p:sp>
        <p:nvSpPr>
          <p:cNvPr id="5" name="Text 3"/>
          <p:cNvSpPr/>
          <p:nvPr/>
        </p:nvSpPr>
        <p:spPr>
          <a:xfrm>
            <a:off x="475488" y="1353312"/>
            <a:ext cx="2432304" cy="8869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35% weight on what candidates actually built, not what they listed. Consulting-only career = 0.25× penalty. Production AI detected from job descriptions.</a:t>
            </a:r>
            <a:endParaRPr lang="en-US" sz="1000" dirty="0"/>
          </a:p>
        </p:txBody>
      </p:sp>
      <p:sp>
        <p:nvSpPr>
          <p:cNvPr id="6" name="Shape 4"/>
          <p:cNvSpPr/>
          <p:nvPr/>
        </p:nvSpPr>
        <p:spPr>
          <a:xfrm>
            <a:off x="3154680" y="914400"/>
            <a:ext cx="2651760" cy="1417320"/>
          </a:xfrm>
          <a:prstGeom prst="roundRect">
            <a:avLst>
              <a:gd name="adj" fmla="val 6452"/>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3264408" y="1005840"/>
            <a:ext cx="2432304" cy="347472"/>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Anti-keyword-stuffing</a:t>
            </a:r>
            <a:endParaRPr lang="en-US" sz="1200" dirty="0"/>
          </a:p>
        </p:txBody>
      </p:sp>
      <p:sp>
        <p:nvSpPr>
          <p:cNvPr id="8" name="Text 6"/>
          <p:cNvSpPr/>
          <p:nvPr/>
        </p:nvSpPr>
        <p:spPr>
          <a:xfrm>
            <a:off x="3264408" y="1353312"/>
            <a:ext cx="2432304" cy="8869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Skills weighted by proficiency × duration (0–18+ months). Expert skill with 0 months usage = 30% credit. Platform assessments override self-declaration.</a:t>
            </a:r>
            <a:endParaRPr lang="en-US" sz="1000" dirty="0"/>
          </a:p>
        </p:txBody>
      </p:sp>
      <p:sp>
        <p:nvSpPr>
          <p:cNvPr id="9" name="Shape 7"/>
          <p:cNvSpPr/>
          <p:nvPr/>
        </p:nvSpPr>
        <p:spPr>
          <a:xfrm>
            <a:off x="5943600" y="914400"/>
            <a:ext cx="2651760" cy="1417320"/>
          </a:xfrm>
          <a:prstGeom prst="roundRect">
            <a:avLst>
              <a:gd name="adj" fmla="val 6452"/>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6053328" y="1005840"/>
            <a:ext cx="2432304" cy="347472"/>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Honeypot-aware</a:t>
            </a:r>
            <a:endParaRPr lang="en-US" sz="1200" dirty="0"/>
          </a:p>
        </p:txBody>
      </p:sp>
      <p:sp>
        <p:nvSpPr>
          <p:cNvPr id="11" name="Text 9"/>
          <p:cNvSpPr/>
          <p:nvPr/>
        </p:nvSpPr>
        <p:spPr>
          <a:xfrm>
            <a:off x="6053328" y="1353312"/>
            <a:ext cx="2432304" cy="8869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42 impossible profiles detected and scored at 0.001. Honeypot rate in our top-100: 0%. Detection is systematic, not special-cased.</a:t>
            </a:r>
            <a:endParaRPr lang="en-US" sz="1000" dirty="0"/>
          </a:p>
        </p:txBody>
      </p:sp>
      <p:sp>
        <p:nvSpPr>
          <p:cNvPr id="12" name="Shape 10"/>
          <p:cNvSpPr/>
          <p:nvPr/>
        </p:nvSpPr>
        <p:spPr>
          <a:xfrm>
            <a:off x="365760" y="2496312"/>
            <a:ext cx="2651760" cy="1417320"/>
          </a:xfrm>
          <a:prstGeom prst="roundRect">
            <a:avLst>
              <a:gd name="adj" fmla="val 6452"/>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75488" y="2587752"/>
            <a:ext cx="2432304" cy="347472"/>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Behavioral multiplier</a:t>
            </a:r>
            <a:endParaRPr lang="en-US" sz="1200" dirty="0"/>
          </a:p>
        </p:txBody>
      </p:sp>
      <p:sp>
        <p:nvSpPr>
          <p:cNvPr id="14" name="Text 12"/>
          <p:cNvSpPr/>
          <p:nvPr/>
        </p:nvSpPr>
        <p:spPr>
          <a:xfrm>
            <a:off x="475488" y="2935224"/>
            <a:ext cx="2432304" cy="8869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Availability is a first-class signal. 180+ day inactive candidates get ×0.55 regardless of profile quality. Response rate, GitHub, open-to-work all factored.</a:t>
            </a:r>
            <a:endParaRPr lang="en-US" sz="1000" dirty="0"/>
          </a:p>
        </p:txBody>
      </p:sp>
      <p:sp>
        <p:nvSpPr>
          <p:cNvPr id="15" name="Shape 13"/>
          <p:cNvSpPr/>
          <p:nvPr/>
        </p:nvSpPr>
        <p:spPr>
          <a:xfrm>
            <a:off x="3154680" y="2496312"/>
            <a:ext cx="2651760" cy="1417320"/>
          </a:xfrm>
          <a:prstGeom prst="roundRect">
            <a:avLst>
              <a:gd name="adj" fmla="val 6452"/>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3264408" y="2587752"/>
            <a:ext cx="2432304" cy="347472"/>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15-second CPU runtime</a:t>
            </a:r>
            <a:endParaRPr lang="en-US" sz="1200" dirty="0"/>
          </a:p>
        </p:txBody>
      </p:sp>
      <p:sp>
        <p:nvSpPr>
          <p:cNvPr id="17" name="Text 15"/>
          <p:cNvSpPr/>
          <p:nvPr/>
        </p:nvSpPr>
        <p:spPr>
          <a:xfrm>
            <a:off x="3264408" y="2935224"/>
            <a:ext cx="2432304" cy="8869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 GPU, no API calls, no network. Pure Python stdlib. Fully reproducible in the Stage 3 Docker container. One command: python rank.py.</a:t>
            </a:r>
            <a:endParaRPr lang="en-US" sz="1000" dirty="0"/>
          </a:p>
        </p:txBody>
      </p:sp>
      <p:sp>
        <p:nvSpPr>
          <p:cNvPr id="18" name="Shape 16"/>
          <p:cNvSpPr/>
          <p:nvPr/>
        </p:nvSpPr>
        <p:spPr>
          <a:xfrm>
            <a:off x="5943600" y="2496312"/>
            <a:ext cx="2651760" cy="1417320"/>
          </a:xfrm>
          <a:prstGeom prst="roundRect">
            <a:avLst>
              <a:gd name="adj" fmla="val 6452"/>
            </a:avLst>
          </a:prstGeom>
          <a:solidFill>
            <a:srgbClr val="1E293B"/>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6053328" y="2587752"/>
            <a:ext cx="2432304" cy="347472"/>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Interpretable reasoning</a:t>
            </a:r>
            <a:endParaRPr lang="en-US" sz="1200" dirty="0"/>
          </a:p>
        </p:txBody>
      </p:sp>
      <p:sp>
        <p:nvSpPr>
          <p:cNvPr id="20" name="Text 18"/>
          <p:cNvSpPr/>
          <p:nvPr/>
        </p:nvSpPr>
        <p:spPr>
          <a:xfrm>
            <a:off x="6053328" y="2935224"/>
            <a:ext cx="2432304" cy="8869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Every ranked candidate has a specific 1-2 sentence reasoning tied to actual profile signals. No hallucinated skills. Designed for Stage 4 manual review.</a:t>
            </a:r>
            <a:endParaRPr lang="en-US" sz="1000" dirty="0"/>
          </a:p>
        </p:txBody>
      </p:sp>
      <p:sp>
        <p:nvSpPr>
          <p:cNvPr id="21" name="Shape 19"/>
          <p:cNvSpPr/>
          <p:nvPr/>
        </p:nvSpPr>
        <p:spPr>
          <a:xfrm>
            <a:off x="365760" y="4526280"/>
            <a:ext cx="8412480" cy="384048"/>
          </a:xfrm>
          <a:prstGeom prst="roundRect">
            <a:avLst>
              <a:gd name="adj" fmla="val 19048"/>
            </a:avLst>
          </a:prstGeom>
          <a:solidFill>
            <a:srgbClr val="0D9488"/>
          </a:solidFill>
          <a:ln w="12700">
            <a:solidFill>
              <a:srgbClr val="0D9488"/>
            </a:solidFill>
            <a:prstDash val="solid"/>
          </a:ln>
        </p:spPr>
      </p:sp>
      <p:sp>
        <p:nvSpPr>
          <p:cNvPr id="22" name="Text 20"/>
          <p:cNvSpPr/>
          <p:nvPr/>
        </p:nvSpPr>
        <p:spPr>
          <a:xfrm>
            <a:off x="457200" y="4526280"/>
            <a:ext cx="8321040" cy="384048"/>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reproduce: python rank.py --candidates candidates.jsonl --out submission.csv</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Candidate Ranking — Redrob AI Challenge</dc:title>
  <dc:subject>PptxGenJS Presentation</dc:subject>
  <dc:creator>Redrob Challenge Participant</dc:creator>
  <cp:lastModifiedBy>Redrob Challenge Participant</cp:lastModifiedBy>
  <cp:revision>1</cp:revision>
  <dcterms:created xsi:type="dcterms:W3CDTF">2026-06-29T05:14:57Z</dcterms:created>
  <dcterms:modified xsi:type="dcterms:W3CDTF">2026-06-29T05:14:57Z</dcterms:modified>
</cp:coreProperties>
</file>